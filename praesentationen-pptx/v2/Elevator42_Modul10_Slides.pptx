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8072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3493008" cy="5148072"/>
          </a:xfrm>
          <a:prstGeom prst="rect">
            <a:avLst/>
          </a:prstGeom>
          <a:solidFill>
            <a:srgbClr val="1F4E79"/>
          </a:solidFill>
          <a:ln/>
        </p:spPr>
      </p:sp>
      <p:pic>
        <p:nvPicPr>
          <p:cNvPr id="4" name="Image 1" descr="preencoded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274320" y="182880"/>
            <a:ext cx="2194560" cy="594360"/>
          </a:xfrm>
          <a:prstGeom prst="rect">
            <a:avLst/>
          </a:prstGeom>
        </p:spPr>
      </p:pic>
      <p:pic>
        <p:nvPicPr>
          <p:cNvPr id="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21040" y="137160"/>
            <a:ext cx="548640" cy="411480"/>
          </a:xfrm>
          <a:prstGeom prst="rect">
            <a:avLst/>
          </a:prstGeom>
        </p:spPr>
      </p:pic>
      <p:sp>
        <p:nvSpPr>
          <p:cNvPr id="6" name="Text 1"/>
          <p:cNvSpPr/>
          <p:nvPr/>
        </p:nvSpPr>
        <p:spPr>
          <a:xfrm>
            <a:off x="274320" y="1097280"/>
            <a:ext cx="3035808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600"/>
              </a:lnSpc>
              <a:buNone/>
            </a:pPr>
            <a:r>
              <a:rPr lang="en-US" sz="3000" dirty="0">
                <a:solidFill>
                  <a:srgbClr val="FFFFFF"/>
                </a:solidFill>
                <a:latin typeface="Fira Sans ExtraBold" pitchFamily="34" charset="0"/>
                <a:ea typeface="Fira Sans ExtraBold" pitchFamily="34" charset="-122"/>
                <a:cs typeface="Fira Sans ExtraBold" pitchFamily="34" charset="-120"/>
              </a:rPr>
              <a:t>Mehr</a:t>
            </a:r>
            <a:endParaRPr lang="en-US" sz="3000" dirty="0"/>
          </a:p>
          <a:p>
            <a:pPr indent="0" marL="0">
              <a:lnSpc>
                <a:spcPts val="3600"/>
              </a:lnSpc>
              <a:buNone/>
            </a:pPr>
            <a:r>
              <a:rPr lang="en-US" sz="3000" dirty="0">
                <a:solidFill>
                  <a:srgbClr val="FFFFFF"/>
                </a:solidFill>
                <a:latin typeface="Fira Sans ExtraBold" pitchFamily="34" charset="0"/>
                <a:ea typeface="Fira Sans ExtraBold" pitchFamily="34" charset="-122"/>
                <a:cs typeface="Fira Sans ExtraBold" pitchFamily="34" charset="-120"/>
              </a:rPr>
              <a:t>Privatpatienten</a:t>
            </a:r>
            <a:endParaRPr lang="en-US" sz="3000" dirty="0"/>
          </a:p>
          <a:p>
            <a:pPr indent="0" marL="0">
              <a:lnSpc>
                <a:spcPts val="3600"/>
              </a:lnSpc>
              <a:buNone/>
            </a:pPr>
            <a:r>
              <a:rPr lang="en-US" sz="3000" dirty="0">
                <a:solidFill>
                  <a:srgbClr val="FFFFFF"/>
                </a:solidFill>
                <a:latin typeface="Fira Sans ExtraBold" pitchFamily="34" charset="0"/>
                <a:ea typeface="Fira Sans ExtraBold" pitchFamily="34" charset="-122"/>
                <a:cs typeface="Fira Sans ExtraBold" pitchFamily="34" charset="-120"/>
              </a:rPr>
              <a:t>&amp; Selbstzahler</a:t>
            </a:r>
            <a:endParaRPr lang="en-US" sz="3000" dirty="0"/>
          </a:p>
          <a:p>
            <a:pPr indent="0" marL="0">
              <a:lnSpc>
                <a:spcPts val="3600"/>
              </a:lnSpc>
              <a:buNone/>
            </a:pPr>
            <a:r>
              <a:rPr lang="en-US" sz="3000" dirty="0">
                <a:solidFill>
                  <a:srgbClr val="FFFFFF"/>
                </a:solidFill>
                <a:latin typeface="Fira Sans ExtraBold" pitchFamily="34" charset="0"/>
                <a:ea typeface="Fira Sans ExtraBold" pitchFamily="34" charset="-122"/>
                <a:cs typeface="Fira Sans ExtraBold" pitchFamily="34" charset="-120"/>
              </a:rPr>
              <a:t>gewinnen</a:t>
            </a:r>
            <a:endParaRPr lang="en-US" sz="3000" dirty="0"/>
          </a:p>
        </p:txBody>
      </p:sp>
      <p:sp>
        <p:nvSpPr>
          <p:cNvPr id="7" name="Text 2"/>
          <p:cNvSpPr/>
          <p:nvPr/>
        </p:nvSpPr>
        <p:spPr>
          <a:xfrm>
            <a:off x="274320" y="3108960"/>
            <a:ext cx="294436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Die wirtschaftliche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Wachstumsstrategie für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moderne Praxen</a:t>
            </a:r>
            <a:endParaRPr lang="en-US" sz="1300" dirty="0"/>
          </a:p>
        </p:txBody>
      </p:sp>
      <p:sp>
        <p:nvSpPr>
          <p:cNvPr id="8" name="Shape 3"/>
          <p:cNvSpPr/>
          <p:nvPr/>
        </p:nvSpPr>
        <p:spPr>
          <a:xfrm>
            <a:off x="7269480" y="4114800"/>
            <a:ext cx="1737360" cy="914400"/>
          </a:xfrm>
          <a:prstGeom prst="rect">
            <a:avLst/>
          </a:prstGeom>
          <a:solidFill>
            <a:srgbClr val="FFFFFF">
              <a:alpha val="85000"/>
            </a:srgbClr>
          </a:solidFill>
          <a:ln/>
        </p:spPr>
      </p:sp>
      <p:pic>
        <p:nvPicPr>
          <p:cNvPr id="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15200" y="4160520"/>
            <a:ext cx="1645920" cy="704088"/>
          </a:xfrm>
          <a:prstGeom prst="rect">
            <a:avLst/>
          </a:prstGeom>
        </p:spPr>
      </p:pic>
      <p:sp>
        <p:nvSpPr>
          <p:cNvPr id="10" name="Shape 4"/>
          <p:cNvSpPr/>
          <p:nvPr/>
        </p:nvSpPr>
        <p:spPr>
          <a:xfrm>
            <a:off x="7315200" y="4882896"/>
            <a:ext cx="1645920" cy="146304"/>
          </a:xfrm>
          <a:prstGeom prst="rect">
            <a:avLst/>
          </a:prstGeom>
          <a:solidFill>
            <a:srgbClr val="333333"/>
          </a:solidFill>
          <a:ln/>
        </p:spPr>
      </p:sp>
      <p:sp>
        <p:nvSpPr>
          <p:cNvPr id="11" name="Text 5"/>
          <p:cNvSpPr/>
          <p:nvPr/>
        </p:nvSpPr>
        <p:spPr>
          <a:xfrm>
            <a:off x="7360920" y="4882896"/>
            <a:ext cx="7315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dirty="0">
                <a:solidFill>
                  <a:srgbClr val="FFFFFF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▶ 0:24</a:t>
            </a:r>
            <a:endParaRPr lang="en-US" sz="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8072"/>
          </a:xfrm>
          <a:prstGeom prst="rect">
            <a:avLst/>
          </a:prstGeom>
        </p:spPr>
      </p:pic>
      <p:pic>
        <p:nvPicPr>
          <p:cNvPr id="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21040" y="137160"/>
            <a:ext cx="548640" cy="41148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4389120" y="2834640"/>
            <a:ext cx="4206240" cy="1691640"/>
          </a:xfrm>
          <a:prstGeom prst="rect">
            <a:avLst/>
          </a:prstGeom>
          <a:solidFill>
            <a:srgbClr val="FFFFFF">
              <a:alpha val="88000"/>
            </a:srgbClr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5" name="Shape 1"/>
          <p:cNvSpPr/>
          <p:nvPr/>
        </p:nvSpPr>
        <p:spPr>
          <a:xfrm>
            <a:off x="4617720" y="3063240"/>
            <a:ext cx="411480" cy="411480"/>
          </a:xfrm>
          <a:prstGeom prst="oval">
            <a:avLst/>
          </a:prstGeom>
          <a:solidFill>
            <a:srgbClr val="1F4E79">
              <a:alpha val="75000"/>
            </a:srgbClr>
          </a:solidFill>
          <a:ln/>
        </p:spPr>
      </p:sp>
      <p:sp>
        <p:nvSpPr>
          <p:cNvPr id="6" name="Text 2"/>
          <p:cNvSpPr/>
          <p:nvPr/>
        </p:nvSpPr>
        <p:spPr>
          <a:xfrm>
            <a:off x="5120640" y="303580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1A1A2E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MODUL 10/10</a:t>
            </a:r>
            <a:endParaRPr lang="en-US" sz="1100" dirty="0"/>
          </a:p>
        </p:txBody>
      </p:sp>
      <p:sp>
        <p:nvSpPr>
          <p:cNvPr id="7" name="Text 3"/>
          <p:cNvSpPr/>
          <p:nvPr/>
        </p:nvSpPr>
        <p:spPr>
          <a:xfrm>
            <a:off x="4617720" y="3474720"/>
            <a:ext cx="3749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F4E79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Controlling</a:t>
            </a:r>
            <a:endParaRPr lang="en-US" sz="2400" dirty="0"/>
          </a:p>
        </p:txBody>
      </p:sp>
      <p:sp>
        <p:nvSpPr>
          <p:cNvPr id="8" name="Text 4"/>
          <p:cNvSpPr/>
          <p:nvPr/>
        </p:nvSpPr>
        <p:spPr>
          <a:xfrm>
            <a:off x="4617720" y="4023360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3D3D5C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Optimierung &amp; kontinuierliche Verbesserung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74320" y="137160"/>
            <a:ext cx="2926080" cy="347472"/>
          </a:xfrm>
          <a:prstGeom prst="rect">
            <a:avLst/>
          </a:prstGeom>
          <a:solidFill>
            <a:srgbClr val="1F4E79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37160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FFFFFF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M O D U L Ü B E R S I C H T</a:t>
            </a:r>
            <a:endParaRPr lang="en-US" sz="85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75320" y="109728"/>
            <a:ext cx="457200" cy="347472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365760" y="640080"/>
            <a:ext cx="2606040" cy="960120"/>
          </a:xfrm>
          <a:prstGeom prst="rect">
            <a:avLst/>
          </a:prstGeom>
          <a:solidFill>
            <a:srgbClr val="1C3050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365760" y="640080"/>
            <a:ext cx="2606040" cy="201168"/>
          </a:xfrm>
          <a:prstGeom prst="rect">
            <a:avLst/>
          </a:prstGeom>
          <a:solidFill>
            <a:srgbClr val="893163"/>
          </a:solidFill>
          <a:ln/>
        </p:spPr>
      </p:sp>
      <p:sp>
        <p:nvSpPr>
          <p:cNvPr id="7" name="Text 4"/>
          <p:cNvSpPr/>
          <p:nvPr/>
        </p:nvSpPr>
        <p:spPr>
          <a:xfrm>
            <a:off x="457200" y="640080"/>
            <a:ext cx="2423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spc="150" kern="0" dirty="0">
                <a:solidFill>
                  <a:srgbClr val="FFFFFF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MODUL  01</a:t>
            </a:r>
            <a:endParaRPr lang="en-US" sz="700" dirty="0"/>
          </a:p>
        </p:txBody>
      </p:sp>
      <p:sp>
        <p:nvSpPr>
          <p:cNvPr id="8" name="Text 5"/>
          <p:cNvSpPr/>
          <p:nvPr/>
        </p:nvSpPr>
        <p:spPr>
          <a:xfrm>
            <a:off x="475488" y="896112"/>
            <a:ext cx="23865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Grundlagen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475488" y="1261872"/>
            <a:ext cx="23865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PKV &amp; Selbstzahler verstehen</a:t>
            </a:r>
            <a:endParaRPr lang="en-US" sz="800" dirty="0"/>
          </a:p>
        </p:txBody>
      </p:sp>
      <p:sp>
        <p:nvSpPr>
          <p:cNvPr id="10" name="Shape 7"/>
          <p:cNvSpPr/>
          <p:nvPr/>
        </p:nvSpPr>
        <p:spPr>
          <a:xfrm>
            <a:off x="3172968" y="640080"/>
            <a:ext cx="2606040" cy="960120"/>
          </a:xfrm>
          <a:prstGeom prst="rect">
            <a:avLst/>
          </a:prstGeom>
          <a:solidFill>
            <a:srgbClr val="1C3050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172968" y="640080"/>
            <a:ext cx="2606040" cy="201168"/>
          </a:xfrm>
          <a:prstGeom prst="rect">
            <a:avLst/>
          </a:prstGeom>
          <a:solidFill>
            <a:srgbClr val="893163"/>
          </a:solidFill>
          <a:ln/>
        </p:spPr>
      </p:sp>
      <p:sp>
        <p:nvSpPr>
          <p:cNvPr id="12" name="Text 9"/>
          <p:cNvSpPr/>
          <p:nvPr/>
        </p:nvSpPr>
        <p:spPr>
          <a:xfrm>
            <a:off x="3264408" y="640080"/>
            <a:ext cx="2423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spc="150" kern="0" dirty="0">
                <a:solidFill>
                  <a:srgbClr val="FFFFFF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MODUL  02</a:t>
            </a:r>
            <a:endParaRPr lang="en-US" sz="700" dirty="0"/>
          </a:p>
        </p:txBody>
      </p:sp>
      <p:sp>
        <p:nvSpPr>
          <p:cNvPr id="13" name="Text 10"/>
          <p:cNvSpPr/>
          <p:nvPr/>
        </p:nvSpPr>
        <p:spPr>
          <a:xfrm>
            <a:off x="3282696" y="896112"/>
            <a:ext cx="23865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Positionierung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3282696" y="1261872"/>
            <a:ext cx="23865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Angebotsschärfung für Privatpatienten</a:t>
            </a:r>
            <a:endParaRPr lang="en-US" sz="800" dirty="0"/>
          </a:p>
        </p:txBody>
      </p:sp>
      <p:sp>
        <p:nvSpPr>
          <p:cNvPr id="15" name="Shape 12"/>
          <p:cNvSpPr/>
          <p:nvPr/>
        </p:nvSpPr>
        <p:spPr>
          <a:xfrm>
            <a:off x="5980176" y="640080"/>
            <a:ext cx="2606040" cy="960120"/>
          </a:xfrm>
          <a:prstGeom prst="rect">
            <a:avLst/>
          </a:prstGeom>
          <a:solidFill>
            <a:srgbClr val="1C3050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5980176" y="640080"/>
            <a:ext cx="2606040" cy="201168"/>
          </a:xfrm>
          <a:prstGeom prst="rect">
            <a:avLst/>
          </a:prstGeom>
          <a:solidFill>
            <a:srgbClr val="893163"/>
          </a:solidFill>
          <a:ln/>
        </p:spPr>
      </p:sp>
      <p:sp>
        <p:nvSpPr>
          <p:cNvPr id="17" name="Text 14"/>
          <p:cNvSpPr/>
          <p:nvPr/>
        </p:nvSpPr>
        <p:spPr>
          <a:xfrm>
            <a:off x="6071616" y="640080"/>
            <a:ext cx="2423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spc="150" kern="0" dirty="0">
                <a:solidFill>
                  <a:srgbClr val="FFFFFF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MODUL  03</a:t>
            </a:r>
            <a:endParaRPr lang="en-US" sz="700" dirty="0"/>
          </a:p>
        </p:txBody>
      </p:sp>
      <p:sp>
        <p:nvSpPr>
          <p:cNvPr id="18" name="Text 15"/>
          <p:cNvSpPr/>
          <p:nvPr/>
        </p:nvSpPr>
        <p:spPr>
          <a:xfrm>
            <a:off x="6089904" y="896112"/>
            <a:ext cx="23865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Patient Journey</a:t>
            </a:r>
            <a:endParaRPr lang="en-US" sz="1400" dirty="0"/>
          </a:p>
        </p:txBody>
      </p:sp>
      <p:sp>
        <p:nvSpPr>
          <p:cNvPr id="19" name="Text 16"/>
          <p:cNvSpPr/>
          <p:nvPr/>
        </p:nvSpPr>
        <p:spPr>
          <a:xfrm>
            <a:off x="6089904" y="1261872"/>
            <a:ext cx="23865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Kontaktpunkte optimieren</a:t>
            </a:r>
            <a:endParaRPr lang="en-US" sz="800" dirty="0"/>
          </a:p>
        </p:txBody>
      </p:sp>
      <p:sp>
        <p:nvSpPr>
          <p:cNvPr id="20" name="Shape 17"/>
          <p:cNvSpPr/>
          <p:nvPr/>
        </p:nvSpPr>
        <p:spPr>
          <a:xfrm>
            <a:off x="365760" y="1709928"/>
            <a:ext cx="2606040" cy="960120"/>
          </a:xfrm>
          <a:prstGeom prst="rect">
            <a:avLst/>
          </a:prstGeom>
          <a:solidFill>
            <a:srgbClr val="1C3050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365760" y="1709928"/>
            <a:ext cx="2606040" cy="201168"/>
          </a:xfrm>
          <a:prstGeom prst="rect">
            <a:avLst/>
          </a:prstGeom>
          <a:solidFill>
            <a:srgbClr val="893163"/>
          </a:solidFill>
          <a:ln/>
        </p:spPr>
      </p:sp>
      <p:sp>
        <p:nvSpPr>
          <p:cNvPr id="22" name="Text 19"/>
          <p:cNvSpPr/>
          <p:nvPr/>
        </p:nvSpPr>
        <p:spPr>
          <a:xfrm>
            <a:off x="457200" y="1709928"/>
            <a:ext cx="2423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spc="150" kern="0" dirty="0">
                <a:solidFill>
                  <a:srgbClr val="FFFFFF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MODUL  04</a:t>
            </a:r>
            <a:endParaRPr lang="en-US" sz="700" dirty="0"/>
          </a:p>
        </p:txBody>
      </p:sp>
      <p:sp>
        <p:nvSpPr>
          <p:cNvPr id="23" name="Text 20"/>
          <p:cNvSpPr/>
          <p:nvPr/>
        </p:nvSpPr>
        <p:spPr>
          <a:xfrm>
            <a:off x="475488" y="1965960"/>
            <a:ext cx="23865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Kommunikation</a:t>
            </a:r>
            <a:endParaRPr lang="en-US" sz="1400" dirty="0"/>
          </a:p>
        </p:txBody>
      </p:sp>
      <p:sp>
        <p:nvSpPr>
          <p:cNvPr id="24" name="Text 21"/>
          <p:cNvSpPr/>
          <p:nvPr/>
        </p:nvSpPr>
        <p:spPr>
          <a:xfrm>
            <a:off x="475488" y="2331720"/>
            <a:ext cx="23865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Gesprächsführung mit Privatpatienten</a:t>
            </a:r>
            <a:endParaRPr lang="en-US" sz="800" dirty="0"/>
          </a:p>
        </p:txBody>
      </p:sp>
      <p:sp>
        <p:nvSpPr>
          <p:cNvPr id="25" name="Shape 22"/>
          <p:cNvSpPr/>
          <p:nvPr/>
        </p:nvSpPr>
        <p:spPr>
          <a:xfrm>
            <a:off x="3172968" y="1709928"/>
            <a:ext cx="2606040" cy="960120"/>
          </a:xfrm>
          <a:prstGeom prst="rect">
            <a:avLst/>
          </a:prstGeom>
          <a:solidFill>
            <a:srgbClr val="1C3050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6" name="Shape 23"/>
          <p:cNvSpPr/>
          <p:nvPr/>
        </p:nvSpPr>
        <p:spPr>
          <a:xfrm>
            <a:off x="3172968" y="1709928"/>
            <a:ext cx="2606040" cy="201168"/>
          </a:xfrm>
          <a:prstGeom prst="rect">
            <a:avLst/>
          </a:prstGeom>
          <a:solidFill>
            <a:srgbClr val="893163"/>
          </a:solidFill>
          <a:ln/>
        </p:spPr>
      </p:sp>
      <p:sp>
        <p:nvSpPr>
          <p:cNvPr id="27" name="Text 24"/>
          <p:cNvSpPr/>
          <p:nvPr/>
        </p:nvSpPr>
        <p:spPr>
          <a:xfrm>
            <a:off x="3264408" y="1709928"/>
            <a:ext cx="2423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spc="150" kern="0" dirty="0">
                <a:solidFill>
                  <a:srgbClr val="FFFFFF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MODUL  05</a:t>
            </a:r>
            <a:endParaRPr lang="en-US" sz="700" dirty="0"/>
          </a:p>
        </p:txBody>
      </p:sp>
      <p:sp>
        <p:nvSpPr>
          <p:cNvPr id="28" name="Text 25"/>
          <p:cNvSpPr/>
          <p:nvPr/>
        </p:nvSpPr>
        <p:spPr>
          <a:xfrm>
            <a:off x="3282696" y="1965960"/>
            <a:ext cx="23865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Preisstrategie</a:t>
            </a:r>
            <a:endParaRPr lang="en-US" sz="1400" dirty="0"/>
          </a:p>
        </p:txBody>
      </p:sp>
      <p:sp>
        <p:nvSpPr>
          <p:cNvPr id="29" name="Text 26"/>
          <p:cNvSpPr/>
          <p:nvPr/>
        </p:nvSpPr>
        <p:spPr>
          <a:xfrm>
            <a:off x="3282696" y="2331720"/>
            <a:ext cx="23865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Honorargestaltung für Selbstzahler</a:t>
            </a:r>
            <a:endParaRPr lang="en-US" sz="800" dirty="0"/>
          </a:p>
        </p:txBody>
      </p:sp>
      <p:sp>
        <p:nvSpPr>
          <p:cNvPr id="30" name="Shape 27"/>
          <p:cNvSpPr/>
          <p:nvPr/>
        </p:nvSpPr>
        <p:spPr>
          <a:xfrm>
            <a:off x="5980176" y="1709928"/>
            <a:ext cx="2606040" cy="960120"/>
          </a:xfrm>
          <a:prstGeom prst="rect">
            <a:avLst/>
          </a:prstGeom>
          <a:solidFill>
            <a:srgbClr val="1C3050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31" name="Shape 28"/>
          <p:cNvSpPr/>
          <p:nvPr/>
        </p:nvSpPr>
        <p:spPr>
          <a:xfrm>
            <a:off x="5980176" y="1709928"/>
            <a:ext cx="2606040" cy="201168"/>
          </a:xfrm>
          <a:prstGeom prst="rect">
            <a:avLst/>
          </a:prstGeom>
          <a:solidFill>
            <a:srgbClr val="893163"/>
          </a:solidFill>
          <a:ln/>
        </p:spPr>
      </p:sp>
      <p:sp>
        <p:nvSpPr>
          <p:cNvPr id="32" name="Text 29"/>
          <p:cNvSpPr/>
          <p:nvPr/>
        </p:nvSpPr>
        <p:spPr>
          <a:xfrm>
            <a:off x="6071616" y="1709928"/>
            <a:ext cx="2423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spc="150" kern="0" dirty="0">
                <a:solidFill>
                  <a:srgbClr val="FFFFFF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MODUL  06</a:t>
            </a:r>
            <a:endParaRPr lang="en-US" sz="700" dirty="0"/>
          </a:p>
        </p:txBody>
      </p:sp>
      <p:sp>
        <p:nvSpPr>
          <p:cNvPr id="33" name="Text 30"/>
          <p:cNvSpPr/>
          <p:nvPr/>
        </p:nvSpPr>
        <p:spPr>
          <a:xfrm>
            <a:off x="6089904" y="1965960"/>
            <a:ext cx="23865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Service &amp; Erlebnis</a:t>
            </a:r>
            <a:endParaRPr lang="en-US" sz="1400" dirty="0"/>
          </a:p>
        </p:txBody>
      </p:sp>
      <p:sp>
        <p:nvSpPr>
          <p:cNvPr id="34" name="Text 31"/>
          <p:cNvSpPr/>
          <p:nvPr/>
        </p:nvSpPr>
        <p:spPr>
          <a:xfrm>
            <a:off x="6089904" y="2331720"/>
            <a:ext cx="23865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WOW-Effekte für Patienten</a:t>
            </a:r>
            <a:endParaRPr lang="en-US" sz="800" dirty="0"/>
          </a:p>
        </p:txBody>
      </p:sp>
      <p:sp>
        <p:nvSpPr>
          <p:cNvPr id="35" name="Shape 32"/>
          <p:cNvSpPr/>
          <p:nvPr/>
        </p:nvSpPr>
        <p:spPr>
          <a:xfrm>
            <a:off x="365760" y="2779776"/>
            <a:ext cx="2606040" cy="960120"/>
          </a:xfrm>
          <a:prstGeom prst="rect">
            <a:avLst/>
          </a:prstGeom>
          <a:solidFill>
            <a:srgbClr val="1C3050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36" name="Shape 33"/>
          <p:cNvSpPr/>
          <p:nvPr/>
        </p:nvSpPr>
        <p:spPr>
          <a:xfrm>
            <a:off x="365760" y="2779776"/>
            <a:ext cx="2606040" cy="201168"/>
          </a:xfrm>
          <a:prstGeom prst="rect">
            <a:avLst/>
          </a:prstGeom>
          <a:solidFill>
            <a:srgbClr val="893163"/>
          </a:solidFill>
          <a:ln/>
        </p:spPr>
      </p:sp>
      <p:sp>
        <p:nvSpPr>
          <p:cNvPr id="37" name="Text 34"/>
          <p:cNvSpPr/>
          <p:nvPr/>
        </p:nvSpPr>
        <p:spPr>
          <a:xfrm>
            <a:off x="457200" y="2779776"/>
            <a:ext cx="2423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spc="150" kern="0" dirty="0">
                <a:solidFill>
                  <a:srgbClr val="FFFFFF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MODUL  07</a:t>
            </a:r>
            <a:endParaRPr lang="en-US" sz="700" dirty="0"/>
          </a:p>
        </p:txBody>
      </p:sp>
      <p:sp>
        <p:nvSpPr>
          <p:cNvPr id="38" name="Text 35"/>
          <p:cNvSpPr/>
          <p:nvPr/>
        </p:nvSpPr>
        <p:spPr>
          <a:xfrm>
            <a:off x="475488" y="3035808"/>
            <a:ext cx="23865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Recht &amp; Ethik</a:t>
            </a:r>
            <a:endParaRPr lang="en-US" sz="1400" dirty="0"/>
          </a:p>
        </p:txBody>
      </p:sp>
      <p:sp>
        <p:nvSpPr>
          <p:cNvPr id="39" name="Text 36"/>
          <p:cNvSpPr/>
          <p:nvPr/>
        </p:nvSpPr>
        <p:spPr>
          <a:xfrm>
            <a:off x="475488" y="3401568"/>
            <a:ext cx="23865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Sicherheit und Vertrauen</a:t>
            </a:r>
            <a:endParaRPr lang="en-US" sz="800" dirty="0"/>
          </a:p>
        </p:txBody>
      </p:sp>
      <p:sp>
        <p:nvSpPr>
          <p:cNvPr id="40" name="Shape 37"/>
          <p:cNvSpPr/>
          <p:nvPr/>
        </p:nvSpPr>
        <p:spPr>
          <a:xfrm>
            <a:off x="3172968" y="2779776"/>
            <a:ext cx="2606040" cy="960120"/>
          </a:xfrm>
          <a:prstGeom prst="rect">
            <a:avLst/>
          </a:prstGeom>
          <a:solidFill>
            <a:srgbClr val="1C3050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41" name="Shape 38"/>
          <p:cNvSpPr/>
          <p:nvPr/>
        </p:nvSpPr>
        <p:spPr>
          <a:xfrm>
            <a:off x="3172968" y="2779776"/>
            <a:ext cx="2606040" cy="201168"/>
          </a:xfrm>
          <a:prstGeom prst="rect">
            <a:avLst/>
          </a:prstGeom>
          <a:solidFill>
            <a:srgbClr val="893163"/>
          </a:solidFill>
          <a:ln/>
        </p:spPr>
      </p:sp>
      <p:sp>
        <p:nvSpPr>
          <p:cNvPr id="42" name="Text 39"/>
          <p:cNvSpPr/>
          <p:nvPr/>
        </p:nvSpPr>
        <p:spPr>
          <a:xfrm>
            <a:off x="3264408" y="2779776"/>
            <a:ext cx="2423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spc="150" kern="0" dirty="0">
                <a:solidFill>
                  <a:srgbClr val="FFFFFF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MODUL  08</a:t>
            </a:r>
            <a:endParaRPr lang="en-US" sz="700" dirty="0"/>
          </a:p>
        </p:txBody>
      </p:sp>
      <p:sp>
        <p:nvSpPr>
          <p:cNvPr id="43" name="Text 40"/>
          <p:cNvSpPr/>
          <p:nvPr/>
        </p:nvSpPr>
        <p:spPr>
          <a:xfrm>
            <a:off x="3282696" y="3035808"/>
            <a:ext cx="23865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Umsetzung &amp; Team</a:t>
            </a:r>
            <a:endParaRPr lang="en-US" sz="1400" dirty="0"/>
          </a:p>
        </p:txBody>
      </p:sp>
      <p:sp>
        <p:nvSpPr>
          <p:cNvPr id="44" name="Text 41"/>
          <p:cNvSpPr/>
          <p:nvPr/>
        </p:nvSpPr>
        <p:spPr>
          <a:xfrm>
            <a:off x="3282696" y="3401568"/>
            <a:ext cx="23865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Nachhaltige Integration in den Praxisalltag</a:t>
            </a:r>
            <a:endParaRPr lang="en-US" sz="800" dirty="0"/>
          </a:p>
        </p:txBody>
      </p:sp>
      <p:sp>
        <p:nvSpPr>
          <p:cNvPr id="45" name="Shape 42"/>
          <p:cNvSpPr/>
          <p:nvPr/>
        </p:nvSpPr>
        <p:spPr>
          <a:xfrm>
            <a:off x="5980176" y="2779776"/>
            <a:ext cx="2606040" cy="960120"/>
          </a:xfrm>
          <a:prstGeom prst="rect">
            <a:avLst/>
          </a:prstGeom>
          <a:solidFill>
            <a:srgbClr val="1C3050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46" name="Shape 43"/>
          <p:cNvSpPr/>
          <p:nvPr/>
        </p:nvSpPr>
        <p:spPr>
          <a:xfrm>
            <a:off x="5980176" y="2779776"/>
            <a:ext cx="2606040" cy="201168"/>
          </a:xfrm>
          <a:prstGeom prst="rect">
            <a:avLst/>
          </a:prstGeom>
          <a:solidFill>
            <a:srgbClr val="893163"/>
          </a:solidFill>
          <a:ln/>
        </p:spPr>
      </p:sp>
      <p:sp>
        <p:nvSpPr>
          <p:cNvPr id="47" name="Text 44"/>
          <p:cNvSpPr/>
          <p:nvPr/>
        </p:nvSpPr>
        <p:spPr>
          <a:xfrm>
            <a:off x="6071616" y="2779776"/>
            <a:ext cx="2423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spc="150" kern="0" dirty="0">
                <a:solidFill>
                  <a:srgbClr val="FFFFFF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MODUL  09</a:t>
            </a:r>
            <a:endParaRPr lang="en-US" sz="700" dirty="0"/>
          </a:p>
        </p:txBody>
      </p:sp>
      <p:sp>
        <p:nvSpPr>
          <p:cNvPr id="48" name="Text 45"/>
          <p:cNvSpPr/>
          <p:nvPr/>
        </p:nvSpPr>
        <p:spPr>
          <a:xfrm>
            <a:off x="6089904" y="3035808"/>
            <a:ext cx="23865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Marketing &amp; Wachstum</a:t>
            </a:r>
            <a:endParaRPr lang="en-US" sz="1400" dirty="0"/>
          </a:p>
        </p:txBody>
      </p:sp>
      <p:sp>
        <p:nvSpPr>
          <p:cNvPr id="49" name="Text 46"/>
          <p:cNvSpPr/>
          <p:nvPr/>
        </p:nvSpPr>
        <p:spPr>
          <a:xfrm>
            <a:off x="6089904" y="3401568"/>
            <a:ext cx="23865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Sichtbarkeit und Empfehlungen</a:t>
            </a:r>
            <a:endParaRPr lang="en-US" sz="800" dirty="0"/>
          </a:p>
        </p:txBody>
      </p:sp>
      <p:sp>
        <p:nvSpPr>
          <p:cNvPr id="50" name="Shape 47"/>
          <p:cNvSpPr/>
          <p:nvPr/>
        </p:nvSpPr>
        <p:spPr>
          <a:xfrm>
            <a:off x="365760" y="3849624"/>
            <a:ext cx="2606040" cy="960120"/>
          </a:xfrm>
          <a:prstGeom prst="rect">
            <a:avLst/>
          </a:prstGeom>
          <a:solidFill>
            <a:srgbClr val="1C3050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51" name="Shape 48"/>
          <p:cNvSpPr/>
          <p:nvPr/>
        </p:nvSpPr>
        <p:spPr>
          <a:xfrm>
            <a:off x="365760" y="3849624"/>
            <a:ext cx="2606040" cy="201168"/>
          </a:xfrm>
          <a:prstGeom prst="rect">
            <a:avLst/>
          </a:prstGeom>
          <a:solidFill>
            <a:srgbClr val="893163"/>
          </a:solidFill>
          <a:ln/>
        </p:spPr>
      </p:sp>
      <p:sp>
        <p:nvSpPr>
          <p:cNvPr id="52" name="Text 49"/>
          <p:cNvSpPr/>
          <p:nvPr/>
        </p:nvSpPr>
        <p:spPr>
          <a:xfrm>
            <a:off x="457200" y="3849624"/>
            <a:ext cx="2423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spc="150" kern="0" dirty="0">
                <a:solidFill>
                  <a:srgbClr val="FFFFFF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MODUL  10</a:t>
            </a:r>
            <a:endParaRPr lang="en-US" sz="700" dirty="0"/>
          </a:p>
        </p:txBody>
      </p:sp>
      <p:sp>
        <p:nvSpPr>
          <p:cNvPr id="53" name="Text 50"/>
          <p:cNvSpPr/>
          <p:nvPr/>
        </p:nvSpPr>
        <p:spPr>
          <a:xfrm>
            <a:off x="475488" y="4105656"/>
            <a:ext cx="23865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Controlling</a:t>
            </a:r>
            <a:endParaRPr lang="en-US" sz="1400" dirty="0"/>
          </a:p>
        </p:txBody>
      </p:sp>
      <p:sp>
        <p:nvSpPr>
          <p:cNvPr id="54" name="Text 51"/>
          <p:cNvSpPr/>
          <p:nvPr/>
        </p:nvSpPr>
        <p:spPr>
          <a:xfrm>
            <a:off x="475488" y="4471416"/>
            <a:ext cx="23865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Optimierung &amp; kontinuierliche Verbesserung</a:t>
            </a:r>
            <a:endParaRPr lang="en-US" sz="800" dirty="0"/>
          </a:p>
        </p:txBody>
      </p:sp>
      <p:sp>
        <p:nvSpPr>
          <p:cNvPr id="55" name="Text 52"/>
          <p:cNvSpPr/>
          <p:nvPr/>
        </p:nvSpPr>
        <p:spPr>
          <a:xfrm>
            <a:off x="365760" y="4754880"/>
            <a:ext cx="8412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i="1" dirty="0">
                <a:solidFill>
                  <a:srgbClr val="6B7280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© by ELEVATOR42 -- SMARTER WAYS TO LEARN                    elevator42.com</a:t>
            </a:r>
            <a:endParaRPr lang="en-US" sz="7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20040" y="164592"/>
            <a:ext cx="1783080" cy="256032"/>
          </a:xfrm>
          <a:prstGeom prst="rect">
            <a:avLst/>
          </a:prstGeom>
          <a:solidFill>
            <a:srgbClr val="893163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64592"/>
            <a:ext cx="1709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spc="180" kern="0" dirty="0">
                <a:solidFill>
                  <a:srgbClr val="FFFFFF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MODUL 10 · LEKTION 1</a:t>
            </a:r>
            <a:endParaRPr lang="en-US" sz="75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75320" y="109728"/>
            <a:ext cx="457200" cy="347472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365760" y="4754880"/>
            <a:ext cx="8412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i="1" dirty="0">
                <a:solidFill>
                  <a:srgbClr val="6B7280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© by ELEVATOR42 -- SMARTER WAYS TO LEARN                    elevator42.com</a:t>
            </a:r>
            <a:endParaRPr lang="en-US" sz="700" dirty="0"/>
          </a:p>
        </p:txBody>
      </p:sp>
      <p:sp>
        <p:nvSpPr>
          <p:cNvPr id="6" name="Text 3"/>
          <p:cNvSpPr/>
          <p:nvPr/>
        </p:nvSpPr>
        <p:spPr>
          <a:xfrm>
            <a:off x="365760" y="621792"/>
            <a:ext cx="7772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4E79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Warum messen wichtig ist</a:t>
            </a:r>
            <a:endParaRPr lang="en-US" sz="2800" dirty="0"/>
          </a:p>
        </p:txBody>
      </p:sp>
      <p:sp>
        <p:nvSpPr>
          <p:cNvPr id="7" name="Shape 4"/>
          <p:cNvSpPr/>
          <p:nvPr/>
        </p:nvSpPr>
        <p:spPr>
          <a:xfrm>
            <a:off x="365760" y="1280160"/>
            <a:ext cx="6766560" cy="621792"/>
          </a:xfrm>
          <a:prstGeom prst="rect">
            <a:avLst/>
          </a:prstGeom>
          <a:solidFill>
            <a:srgbClr val="1C3050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365760" y="1280160"/>
            <a:ext cx="54864" cy="621792"/>
          </a:xfrm>
          <a:prstGeom prst="rect">
            <a:avLst/>
          </a:prstGeom>
          <a:solidFill>
            <a:srgbClr val="C0392B"/>
          </a:solidFill>
          <a:ln/>
        </p:spPr>
      </p:sp>
      <p:sp>
        <p:nvSpPr>
          <p:cNvPr id="9" name="Text 6"/>
          <p:cNvSpPr/>
          <p:nvPr/>
        </p:nvSpPr>
        <p:spPr>
          <a:xfrm>
            <a:off x="640080" y="1280160"/>
            <a:ext cx="25603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Bauchgefühl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3291840" y="1280160"/>
            <a:ext cx="34747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Unsicher, nicht überprüfbar, subjektiv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365760" y="2057400"/>
            <a:ext cx="6766560" cy="621792"/>
          </a:xfrm>
          <a:prstGeom prst="rect">
            <a:avLst/>
          </a:prstGeom>
          <a:solidFill>
            <a:srgbClr val="1C3050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365760" y="2057400"/>
            <a:ext cx="54864" cy="621792"/>
          </a:xfrm>
          <a:prstGeom prst="rect">
            <a:avLst/>
          </a:prstGeom>
          <a:solidFill>
            <a:srgbClr val="2D6A4F"/>
          </a:solidFill>
          <a:ln/>
        </p:spPr>
      </p:sp>
      <p:sp>
        <p:nvSpPr>
          <p:cNvPr id="13" name="Text 10"/>
          <p:cNvSpPr/>
          <p:nvPr/>
        </p:nvSpPr>
        <p:spPr>
          <a:xfrm>
            <a:off x="640080" y="2057400"/>
            <a:ext cx="25603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Daten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3291840" y="2057400"/>
            <a:ext cx="34747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Klar, überprüfbar, steuerbar</a:t>
            </a:r>
            <a:endParaRPr lang="en-US" sz="1150" dirty="0"/>
          </a:p>
        </p:txBody>
      </p:sp>
      <p:sp>
        <p:nvSpPr>
          <p:cNvPr id="15" name="Shape 12"/>
          <p:cNvSpPr/>
          <p:nvPr/>
        </p:nvSpPr>
        <p:spPr>
          <a:xfrm>
            <a:off x="365760" y="2834640"/>
            <a:ext cx="6766560" cy="621792"/>
          </a:xfrm>
          <a:prstGeom prst="rect">
            <a:avLst/>
          </a:prstGeom>
          <a:solidFill>
            <a:srgbClr val="1C3050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365760" y="2834640"/>
            <a:ext cx="54864" cy="621792"/>
          </a:xfrm>
          <a:prstGeom prst="rect">
            <a:avLst/>
          </a:prstGeom>
          <a:solidFill>
            <a:srgbClr val="893163"/>
          </a:solidFill>
          <a:ln/>
        </p:spPr>
      </p:sp>
      <p:sp>
        <p:nvSpPr>
          <p:cNvPr id="17" name="Text 14"/>
          <p:cNvSpPr/>
          <p:nvPr/>
        </p:nvSpPr>
        <p:spPr>
          <a:xfrm>
            <a:off x="640080" y="2834640"/>
            <a:ext cx="25603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Kernaussage</a:t>
            </a:r>
            <a:endParaRPr lang="en-US" sz="1400" dirty="0"/>
          </a:p>
        </p:txBody>
      </p:sp>
      <p:sp>
        <p:nvSpPr>
          <p:cNvPr id="18" name="Text 15"/>
          <p:cNvSpPr/>
          <p:nvPr/>
        </p:nvSpPr>
        <p:spPr>
          <a:xfrm>
            <a:off x="3291840" y="2834640"/>
            <a:ext cx="34747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Nur was messbar ist, lässt sich verbessern</a:t>
            </a:r>
            <a:endParaRPr lang="en-US" sz="1150" dirty="0"/>
          </a:p>
        </p:txBody>
      </p:sp>
      <p:sp>
        <p:nvSpPr>
          <p:cNvPr id="19" name="Shape 16"/>
          <p:cNvSpPr/>
          <p:nvPr/>
        </p:nvSpPr>
        <p:spPr>
          <a:xfrm>
            <a:off x="7269480" y="4114800"/>
            <a:ext cx="1737360" cy="914400"/>
          </a:xfrm>
          <a:prstGeom prst="rect">
            <a:avLst/>
          </a:prstGeom>
          <a:solidFill>
            <a:srgbClr val="FFFFFF">
              <a:alpha val="85000"/>
            </a:srgbClr>
          </a:solidFill>
          <a:ln/>
        </p:spPr>
      </p:sp>
      <p:pic>
        <p:nvPicPr>
          <p:cNvPr id="20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0" y="4160520"/>
            <a:ext cx="1645920" cy="704088"/>
          </a:xfrm>
          <a:prstGeom prst="rect">
            <a:avLst/>
          </a:prstGeom>
        </p:spPr>
      </p:pic>
      <p:sp>
        <p:nvSpPr>
          <p:cNvPr id="21" name="Shape 17"/>
          <p:cNvSpPr/>
          <p:nvPr/>
        </p:nvSpPr>
        <p:spPr>
          <a:xfrm>
            <a:off x="7315200" y="4882896"/>
            <a:ext cx="1645920" cy="146304"/>
          </a:xfrm>
          <a:prstGeom prst="rect">
            <a:avLst/>
          </a:prstGeom>
          <a:solidFill>
            <a:srgbClr val="333333"/>
          </a:solidFill>
          <a:ln/>
        </p:spPr>
      </p:sp>
      <p:sp>
        <p:nvSpPr>
          <p:cNvPr id="22" name="Text 18"/>
          <p:cNvSpPr/>
          <p:nvPr/>
        </p:nvSpPr>
        <p:spPr>
          <a:xfrm>
            <a:off x="7360920" y="4882896"/>
            <a:ext cx="7315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dirty="0">
                <a:solidFill>
                  <a:srgbClr val="FFFFFF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▶ 0:24</a:t>
            </a:r>
            <a:endParaRPr lang="en-US" sz="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20040" y="164592"/>
            <a:ext cx="1783080" cy="256032"/>
          </a:xfrm>
          <a:prstGeom prst="rect">
            <a:avLst/>
          </a:prstGeom>
          <a:solidFill>
            <a:srgbClr val="893163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64592"/>
            <a:ext cx="1709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spc="180" kern="0" dirty="0">
                <a:solidFill>
                  <a:srgbClr val="FFFFFF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MODUL 10 · LEKTION 2</a:t>
            </a:r>
            <a:endParaRPr lang="en-US" sz="75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75320" y="109728"/>
            <a:ext cx="457200" cy="347472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365760" y="4754880"/>
            <a:ext cx="8412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i="1" dirty="0">
                <a:solidFill>
                  <a:srgbClr val="6B7280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© by ELEVATOR42 -- SMARTER WAYS TO LEARN                    elevator42.com</a:t>
            </a:r>
            <a:endParaRPr lang="en-US" sz="700" dirty="0"/>
          </a:p>
        </p:txBody>
      </p:sp>
      <p:sp>
        <p:nvSpPr>
          <p:cNvPr id="6" name="Text 3"/>
          <p:cNvSpPr/>
          <p:nvPr/>
        </p:nvSpPr>
        <p:spPr>
          <a:xfrm>
            <a:off x="365760" y="621792"/>
            <a:ext cx="7772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4E79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Die wichtigsten KPIs</a:t>
            </a:r>
            <a:endParaRPr lang="en-US" sz="2800" dirty="0"/>
          </a:p>
        </p:txBody>
      </p:sp>
      <p:sp>
        <p:nvSpPr>
          <p:cNvPr id="7" name="Shape 4"/>
          <p:cNvSpPr/>
          <p:nvPr/>
        </p:nvSpPr>
        <p:spPr>
          <a:xfrm>
            <a:off x="365760" y="1280160"/>
            <a:ext cx="3840480" cy="1325880"/>
          </a:xfrm>
          <a:prstGeom prst="rect">
            <a:avLst/>
          </a:prstGeom>
          <a:solidFill>
            <a:srgbClr val="1C3050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365760" y="1280160"/>
            <a:ext cx="45720" cy="1325880"/>
          </a:xfrm>
          <a:prstGeom prst="rect">
            <a:avLst/>
          </a:prstGeom>
          <a:solidFill>
            <a:srgbClr val="893163"/>
          </a:solidFill>
          <a:ln/>
        </p:spPr>
      </p:sp>
      <p:sp>
        <p:nvSpPr>
          <p:cNvPr id="9" name="Text 6"/>
          <p:cNvSpPr/>
          <p:nvPr/>
        </p:nvSpPr>
        <p:spPr>
          <a:xfrm>
            <a:off x="502920" y="1371600"/>
            <a:ext cx="502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893163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01</a:t>
            </a:r>
            <a:endParaRPr lang="en-US" sz="2000" dirty="0"/>
          </a:p>
        </p:txBody>
      </p:sp>
      <p:sp>
        <p:nvSpPr>
          <p:cNvPr id="10" name="Text 7"/>
          <p:cNvSpPr/>
          <p:nvPr/>
        </p:nvSpPr>
        <p:spPr>
          <a:xfrm>
            <a:off x="1005840" y="1371600"/>
            <a:ext cx="2834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Privatanteil %</a:t>
            </a:r>
            <a:endParaRPr lang="en-US" sz="1600" dirty="0"/>
          </a:p>
        </p:txBody>
      </p:sp>
      <p:sp>
        <p:nvSpPr>
          <p:cNvPr id="11" name="Text 8"/>
          <p:cNvSpPr/>
          <p:nvPr/>
        </p:nvSpPr>
        <p:spPr>
          <a:xfrm>
            <a:off x="548640" y="1783080"/>
            <a:ext cx="3474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Anteil PKV &amp; SZ am Gesamtpatientenaufkommen</a:t>
            </a:r>
            <a:endParaRPr lang="en-US" sz="1050" dirty="0"/>
          </a:p>
        </p:txBody>
      </p:sp>
      <p:sp>
        <p:nvSpPr>
          <p:cNvPr id="12" name="Shape 9"/>
          <p:cNvSpPr/>
          <p:nvPr/>
        </p:nvSpPr>
        <p:spPr>
          <a:xfrm>
            <a:off x="4480560" y="1280160"/>
            <a:ext cx="3840480" cy="1325880"/>
          </a:xfrm>
          <a:prstGeom prst="rect">
            <a:avLst/>
          </a:prstGeom>
          <a:solidFill>
            <a:srgbClr val="1C3050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4480560" y="1280160"/>
            <a:ext cx="45720" cy="1325880"/>
          </a:xfrm>
          <a:prstGeom prst="rect">
            <a:avLst/>
          </a:prstGeom>
          <a:solidFill>
            <a:srgbClr val="893163"/>
          </a:solidFill>
          <a:ln/>
        </p:spPr>
      </p:sp>
      <p:sp>
        <p:nvSpPr>
          <p:cNvPr id="14" name="Text 11"/>
          <p:cNvSpPr/>
          <p:nvPr/>
        </p:nvSpPr>
        <p:spPr>
          <a:xfrm>
            <a:off x="4617720" y="1371600"/>
            <a:ext cx="502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893163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02</a:t>
            </a:r>
            <a:endParaRPr lang="en-US" sz="2000" dirty="0"/>
          </a:p>
        </p:txBody>
      </p:sp>
      <p:sp>
        <p:nvSpPr>
          <p:cNvPr id="15" name="Text 12"/>
          <p:cNvSpPr/>
          <p:nvPr/>
        </p:nvSpPr>
        <p:spPr>
          <a:xfrm>
            <a:off x="5120640" y="1371600"/>
            <a:ext cx="2834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SZ-Umsatz</a:t>
            </a:r>
            <a:endParaRPr lang="en-US" sz="1600" dirty="0"/>
          </a:p>
        </p:txBody>
      </p:sp>
      <p:sp>
        <p:nvSpPr>
          <p:cNvPr id="16" name="Text 13"/>
          <p:cNvSpPr/>
          <p:nvPr/>
        </p:nvSpPr>
        <p:spPr>
          <a:xfrm>
            <a:off x="4663440" y="1783080"/>
            <a:ext cx="3474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Monatlicher Umsatz aus Selbstzahlerleistungen</a:t>
            </a:r>
            <a:endParaRPr lang="en-US" sz="1050" dirty="0"/>
          </a:p>
        </p:txBody>
      </p:sp>
      <p:sp>
        <p:nvSpPr>
          <p:cNvPr id="17" name="Shape 14"/>
          <p:cNvSpPr/>
          <p:nvPr/>
        </p:nvSpPr>
        <p:spPr>
          <a:xfrm>
            <a:off x="365760" y="2834640"/>
            <a:ext cx="3840480" cy="1325880"/>
          </a:xfrm>
          <a:prstGeom prst="rect">
            <a:avLst/>
          </a:prstGeom>
          <a:solidFill>
            <a:srgbClr val="1C3050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365760" y="2834640"/>
            <a:ext cx="45720" cy="1325880"/>
          </a:xfrm>
          <a:prstGeom prst="rect">
            <a:avLst/>
          </a:prstGeom>
          <a:solidFill>
            <a:srgbClr val="893163"/>
          </a:solidFill>
          <a:ln/>
        </p:spPr>
      </p:sp>
      <p:sp>
        <p:nvSpPr>
          <p:cNvPr id="19" name="Text 16"/>
          <p:cNvSpPr/>
          <p:nvPr/>
        </p:nvSpPr>
        <p:spPr>
          <a:xfrm>
            <a:off x="502920" y="2926080"/>
            <a:ext cx="502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893163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03</a:t>
            </a:r>
            <a:endParaRPr lang="en-US" sz="2000" dirty="0"/>
          </a:p>
        </p:txBody>
      </p:sp>
      <p:sp>
        <p:nvSpPr>
          <p:cNvPr id="20" name="Text 17"/>
          <p:cNvSpPr/>
          <p:nvPr/>
        </p:nvSpPr>
        <p:spPr>
          <a:xfrm>
            <a:off x="1005840" y="2926080"/>
            <a:ext cx="2834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Wiederkommquote</a:t>
            </a:r>
            <a:endParaRPr lang="en-US" sz="1600" dirty="0"/>
          </a:p>
        </p:txBody>
      </p:sp>
      <p:sp>
        <p:nvSpPr>
          <p:cNvPr id="21" name="Text 18"/>
          <p:cNvSpPr/>
          <p:nvPr/>
        </p:nvSpPr>
        <p:spPr>
          <a:xfrm>
            <a:off x="548640" y="3337560"/>
            <a:ext cx="3474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Wie viele Patienten kommen wieder?</a:t>
            </a:r>
            <a:endParaRPr lang="en-US" sz="1050" dirty="0"/>
          </a:p>
        </p:txBody>
      </p:sp>
      <p:sp>
        <p:nvSpPr>
          <p:cNvPr id="22" name="Shape 19"/>
          <p:cNvSpPr/>
          <p:nvPr/>
        </p:nvSpPr>
        <p:spPr>
          <a:xfrm>
            <a:off x="4480560" y="2834640"/>
            <a:ext cx="3840480" cy="1325880"/>
          </a:xfrm>
          <a:prstGeom prst="rect">
            <a:avLst/>
          </a:prstGeom>
          <a:solidFill>
            <a:srgbClr val="1C3050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3" name="Shape 20"/>
          <p:cNvSpPr/>
          <p:nvPr/>
        </p:nvSpPr>
        <p:spPr>
          <a:xfrm>
            <a:off x="4480560" y="2834640"/>
            <a:ext cx="45720" cy="1325880"/>
          </a:xfrm>
          <a:prstGeom prst="rect">
            <a:avLst/>
          </a:prstGeom>
          <a:solidFill>
            <a:srgbClr val="893163"/>
          </a:solidFill>
          <a:ln/>
        </p:spPr>
      </p:sp>
      <p:sp>
        <p:nvSpPr>
          <p:cNvPr id="24" name="Text 21"/>
          <p:cNvSpPr/>
          <p:nvPr/>
        </p:nvSpPr>
        <p:spPr>
          <a:xfrm>
            <a:off x="4617720" y="2926080"/>
            <a:ext cx="502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893163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04</a:t>
            </a:r>
            <a:endParaRPr lang="en-US" sz="2000" dirty="0"/>
          </a:p>
        </p:txBody>
      </p:sp>
      <p:sp>
        <p:nvSpPr>
          <p:cNvPr id="25" name="Text 22"/>
          <p:cNvSpPr/>
          <p:nvPr/>
        </p:nvSpPr>
        <p:spPr>
          <a:xfrm>
            <a:off x="5120640" y="2926080"/>
            <a:ext cx="2834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Empfehlungsquote</a:t>
            </a:r>
            <a:endParaRPr lang="en-US" sz="1600" dirty="0"/>
          </a:p>
        </p:txBody>
      </p:sp>
      <p:sp>
        <p:nvSpPr>
          <p:cNvPr id="26" name="Text 23"/>
          <p:cNvSpPr/>
          <p:nvPr/>
        </p:nvSpPr>
        <p:spPr>
          <a:xfrm>
            <a:off x="4663440" y="3337560"/>
            <a:ext cx="3474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Wie viele Neupatienten durch Empfehlung?</a:t>
            </a:r>
            <a:endParaRPr lang="en-US" sz="1050" dirty="0"/>
          </a:p>
        </p:txBody>
      </p:sp>
      <p:sp>
        <p:nvSpPr>
          <p:cNvPr id="27" name="Shape 24"/>
          <p:cNvSpPr/>
          <p:nvPr/>
        </p:nvSpPr>
        <p:spPr>
          <a:xfrm>
            <a:off x="7269480" y="4114800"/>
            <a:ext cx="1737360" cy="914400"/>
          </a:xfrm>
          <a:prstGeom prst="rect">
            <a:avLst/>
          </a:prstGeom>
          <a:solidFill>
            <a:srgbClr val="FFFFFF">
              <a:alpha val="85000"/>
            </a:srgbClr>
          </a:solidFill>
          <a:ln/>
        </p:spPr>
      </p:sp>
      <p:pic>
        <p:nvPicPr>
          <p:cNvPr id="28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0" y="4160520"/>
            <a:ext cx="1645920" cy="704088"/>
          </a:xfrm>
          <a:prstGeom prst="rect">
            <a:avLst/>
          </a:prstGeom>
        </p:spPr>
      </p:pic>
      <p:sp>
        <p:nvSpPr>
          <p:cNvPr id="29" name="Shape 25"/>
          <p:cNvSpPr/>
          <p:nvPr/>
        </p:nvSpPr>
        <p:spPr>
          <a:xfrm>
            <a:off x="7315200" y="4882896"/>
            <a:ext cx="1645920" cy="146304"/>
          </a:xfrm>
          <a:prstGeom prst="rect">
            <a:avLst/>
          </a:prstGeom>
          <a:solidFill>
            <a:srgbClr val="333333"/>
          </a:solidFill>
          <a:ln/>
        </p:spPr>
      </p:sp>
      <p:sp>
        <p:nvSpPr>
          <p:cNvPr id="30" name="Text 26"/>
          <p:cNvSpPr/>
          <p:nvPr/>
        </p:nvSpPr>
        <p:spPr>
          <a:xfrm>
            <a:off x="7360920" y="4882896"/>
            <a:ext cx="7315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dirty="0">
                <a:solidFill>
                  <a:srgbClr val="FFFFFF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▶ 0:24</a:t>
            </a:r>
            <a:endParaRPr lang="en-US" sz="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20040" y="164592"/>
            <a:ext cx="1920240" cy="256032"/>
          </a:xfrm>
          <a:prstGeom prst="rect">
            <a:avLst/>
          </a:prstGeom>
          <a:solidFill>
            <a:srgbClr val="893163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64592"/>
            <a:ext cx="18470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spc="180" kern="0" dirty="0">
                <a:solidFill>
                  <a:srgbClr val="FFFFFF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MODUL 10 · LEKTION 3-4</a:t>
            </a:r>
            <a:endParaRPr lang="en-US" sz="75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75320" y="109728"/>
            <a:ext cx="457200" cy="347472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365760" y="4754880"/>
            <a:ext cx="8412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i="1" dirty="0">
                <a:solidFill>
                  <a:srgbClr val="6B7280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© by ELEVATOR42 -- SMARTER WAYS TO LEARN                    elevator42.com</a:t>
            </a:r>
            <a:endParaRPr lang="en-US" sz="700" dirty="0"/>
          </a:p>
        </p:txBody>
      </p:sp>
      <p:sp>
        <p:nvSpPr>
          <p:cNvPr id="6" name="Text 3"/>
          <p:cNvSpPr/>
          <p:nvPr/>
        </p:nvSpPr>
        <p:spPr>
          <a:xfrm>
            <a:off x="365760" y="621792"/>
            <a:ext cx="7772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4E79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Feedback &amp; Optimierung</a:t>
            </a:r>
            <a:endParaRPr lang="en-US" sz="2800" dirty="0"/>
          </a:p>
        </p:txBody>
      </p:sp>
      <p:sp>
        <p:nvSpPr>
          <p:cNvPr id="7" name="Shape 4"/>
          <p:cNvSpPr/>
          <p:nvPr/>
        </p:nvSpPr>
        <p:spPr>
          <a:xfrm>
            <a:off x="365760" y="1316736"/>
            <a:ext cx="457200" cy="457200"/>
          </a:xfrm>
          <a:prstGeom prst="oval">
            <a:avLst/>
          </a:prstGeom>
          <a:solidFill>
            <a:srgbClr val="893163"/>
          </a:solidFill>
          <a:ln/>
        </p:spPr>
      </p:sp>
      <p:sp>
        <p:nvSpPr>
          <p:cNvPr id="8" name="Text 5"/>
          <p:cNvSpPr/>
          <p:nvPr/>
        </p:nvSpPr>
        <p:spPr>
          <a:xfrm>
            <a:off x="365760" y="131673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1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960120" y="1280160"/>
            <a:ext cx="6217920" cy="548640"/>
          </a:xfrm>
          <a:prstGeom prst="rect">
            <a:avLst/>
          </a:prstGeom>
          <a:solidFill>
            <a:srgbClr val="1C3050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0" name="Text 7"/>
          <p:cNvSpPr/>
          <p:nvPr/>
        </p:nvSpPr>
        <p:spPr>
          <a:xfrm>
            <a:off x="1097280" y="128016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Feedback einholen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3566160" y="1280160"/>
            <a:ext cx="3383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Systematisch nach jedem Besuch</a:t>
            </a:r>
            <a:endParaRPr lang="en-US" sz="1050" dirty="0"/>
          </a:p>
        </p:txBody>
      </p:sp>
      <p:sp>
        <p:nvSpPr>
          <p:cNvPr id="12" name="Shape 9"/>
          <p:cNvSpPr/>
          <p:nvPr/>
        </p:nvSpPr>
        <p:spPr>
          <a:xfrm>
            <a:off x="365760" y="2048256"/>
            <a:ext cx="457200" cy="457200"/>
          </a:xfrm>
          <a:prstGeom prst="oval">
            <a:avLst/>
          </a:prstGeom>
          <a:solidFill>
            <a:srgbClr val="893163"/>
          </a:solidFill>
          <a:ln/>
        </p:spPr>
      </p:sp>
      <p:sp>
        <p:nvSpPr>
          <p:cNvPr id="13" name="Text 10"/>
          <p:cNvSpPr/>
          <p:nvPr/>
        </p:nvSpPr>
        <p:spPr>
          <a:xfrm>
            <a:off x="365760" y="204825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2</a:t>
            </a:r>
            <a:endParaRPr lang="en-US" sz="1300" dirty="0"/>
          </a:p>
        </p:txBody>
      </p:sp>
      <p:sp>
        <p:nvSpPr>
          <p:cNvPr id="14" name="Shape 11"/>
          <p:cNvSpPr/>
          <p:nvPr/>
        </p:nvSpPr>
        <p:spPr>
          <a:xfrm>
            <a:off x="960120" y="2011680"/>
            <a:ext cx="6217920" cy="548640"/>
          </a:xfrm>
          <a:prstGeom prst="rect">
            <a:avLst/>
          </a:prstGeom>
          <a:solidFill>
            <a:srgbClr val="1C3050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5" name="Text 12"/>
          <p:cNvSpPr/>
          <p:nvPr/>
        </p:nvSpPr>
        <p:spPr>
          <a:xfrm>
            <a:off x="1097280" y="201168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KPIs monatlich prüfen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3566160" y="2011680"/>
            <a:ext cx="3383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Trends erkennen, Abweichungen verstehen</a:t>
            </a:r>
            <a:endParaRPr lang="en-US" sz="1050" dirty="0"/>
          </a:p>
        </p:txBody>
      </p:sp>
      <p:sp>
        <p:nvSpPr>
          <p:cNvPr id="17" name="Shape 14"/>
          <p:cNvSpPr/>
          <p:nvPr/>
        </p:nvSpPr>
        <p:spPr>
          <a:xfrm>
            <a:off x="365760" y="2779776"/>
            <a:ext cx="457200" cy="457200"/>
          </a:xfrm>
          <a:prstGeom prst="oval">
            <a:avLst/>
          </a:prstGeom>
          <a:solidFill>
            <a:srgbClr val="893163"/>
          </a:solidFill>
          <a:ln/>
        </p:spPr>
      </p:sp>
      <p:sp>
        <p:nvSpPr>
          <p:cNvPr id="18" name="Text 15"/>
          <p:cNvSpPr/>
          <p:nvPr/>
        </p:nvSpPr>
        <p:spPr>
          <a:xfrm>
            <a:off x="365760" y="277977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Shape 16"/>
          <p:cNvSpPr/>
          <p:nvPr/>
        </p:nvSpPr>
        <p:spPr>
          <a:xfrm>
            <a:off x="960120" y="2743200"/>
            <a:ext cx="6217920" cy="548640"/>
          </a:xfrm>
          <a:prstGeom prst="rect">
            <a:avLst/>
          </a:prstGeom>
          <a:solidFill>
            <a:srgbClr val="1C3050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0" name="Text 17"/>
          <p:cNvSpPr/>
          <p:nvPr/>
        </p:nvSpPr>
        <p:spPr>
          <a:xfrm>
            <a:off x="1097280" y="274320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Maßnahmen ableiten</a:t>
            </a:r>
            <a:endParaRPr lang="en-US" sz="1300" dirty="0"/>
          </a:p>
        </p:txBody>
      </p:sp>
      <p:sp>
        <p:nvSpPr>
          <p:cNvPr id="21" name="Text 18"/>
          <p:cNvSpPr/>
          <p:nvPr/>
        </p:nvSpPr>
        <p:spPr>
          <a:xfrm>
            <a:off x="3566160" y="2743200"/>
            <a:ext cx="3383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Konkret, messbar, terminiert</a:t>
            </a:r>
            <a:endParaRPr lang="en-US" sz="1050" dirty="0"/>
          </a:p>
        </p:txBody>
      </p:sp>
      <p:sp>
        <p:nvSpPr>
          <p:cNvPr id="22" name="Shape 19"/>
          <p:cNvSpPr/>
          <p:nvPr/>
        </p:nvSpPr>
        <p:spPr>
          <a:xfrm>
            <a:off x="365760" y="3511296"/>
            <a:ext cx="457200" cy="457200"/>
          </a:xfrm>
          <a:prstGeom prst="oval">
            <a:avLst/>
          </a:prstGeom>
          <a:solidFill>
            <a:srgbClr val="893163"/>
          </a:solidFill>
          <a:ln/>
        </p:spPr>
      </p:sp>
      <p:sp>
        <p:nvSpPr>
          <p:cNvPr id="23" name="Text 20"/>
          <p:cNvSpPr/>
          <p:nvPr/>
        </p:nvSpPr>
        <p:spPr>
          <a:xfrm>
            <a:off x="365760" y="351129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4</a:t>
            </a:r>
            <a:endParaRPr lang="en-US" sz="1300" dirty="0"/>
          </a:p>
        </p:txBody>
      </p:sp>
      <p:sp>
        <p:nvSpPr>
          <p:cNvPr id="24" name="Shape 21"/>
          <p:cNvSpPr/>
          <p:nvPr/>
        </p:nvSpPr>
        <p:spPr>
          <a:xfrm>
            <a:off x="960120" y="3474720"/>
            <a:ext cx="6217920" cy="548640"/>
          </a:xfrm>
          <a:prstGeom prst="rect">
            <a:avLst/>
          </a:prstGeom>
          <a:solidFill>
            <a:srgbClr val="1C3050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5" name="Text 22"/>
          <p:cNvSpPr/>
          <p:nvPr/>
        </p:nvSpPr>
        <p:spPr>
          <a:xfrm>
            <a:off x="1097280" y="347472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Fortschritte feiern</a:t>
            </a:r>
            <a:endParaRPr lang="en-US" sz="1300" dirty="0"/>
          </a:p>
        </p:txBody>
      </p:sp>
      <p:sp>
        <p:nvSpPr>
          <p:cNvPr id="26" name="Text 23"/>
          <p:cNvSpPr/>
          <p:nvPr/>
        </p:nvSpPr>
        <p:spPr>
          <a:xfrm>
            <a:off x="3566160" y="3474720"/>
            <a:ext cx="3383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Erfolge sichtbar machen – motiviert das Team</a:t>
            </a:r>
            <a:endParaRPr lang="en-US" sz="1050" dirty="0"/>
          </a:p>
        </p:txBody>
      </p:sp>
      <p:sp>
        <p:nvSpPr>
          <p:cNvPr id="27" name="Shape 24"/>
          <p:cNvSpPr/>
          <p:nvPr/>
        </p:nvSpPr>
        <p:spPr>
          <a:xfrm>
            <a:off x="7269480" y="4114800"/>
            <a:ext cx="1737360" cy="914400"/>
          </a:xfrm>
          <a:prstGeom prst="rect">
            <a:avLst/>
          </a:prstGeom>
          <a:solidFill>
            <a:srgbClr val="FFFFFF">
              <a:alpha val="85000"/>
            </a:srgbClr>
          </a:solidFill>
          <a:ln/>
        </p:spPr>
      </p:sp>
      <p:pic>
        <p:nvPicPr>
          <p:cNvPr id="28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0" y="4160520"/>
            <a:ext cx="1645920" cy="704088"/>
          </a:xfrm>
          <a:prstGeom prst="rect">
            <a:avLst/>
          </a:prstGeom>
        </p:spPr>
      </p:pic>
      <p:sp>
        <p:nvSpPr>
          <p:cNvPr id="29" name="Shape 25"/>
          <p:cNvSpPr/>
          <p:nvPr/>
        </p:nvSpPr>
        <p:spPr>
          <a:xfrm>
            <a:off x="7315200" y="4882896"/>
            <a:ext cx="1645920" cy="146304"/>
          </a:xfrm>
          <a:prstGeom prst="rect">
            <a:avLst/>
          </a:prstGeom>
          <a:solidFill>
            <a:srgbClr val="333333"/>
          </a:solidFill>
          <a:ln/>
        </p:spPr>
      </p:sp>
      <p:sp>
        <p:nvSpPr>
          <p:cNvPr id="30" name="Text 26"/>
          <p:cNvSpPr/>
          <p:nvPr/>
        </p:nvSpPr>
        <p:spPr>
          <a:xfrm>
            <a:off x="7360920" y="4882896"/>
            <a:ext cx="7315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dirty="0">
                <a:solidFill>
                  <a:srgbClr val="FFFFFF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▶ 0:24</a:t>
            </a:r>
            <a:endParaRPr lang="en-US" sz="6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893163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75320" y="109728"/>
            <a:ext cx="4572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457200" y="91440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spc="200" kern="0" dirty="0">
                <a:solidFill>
                  <a:srgbClr val="3D3D5C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Kernbotschaft Modul 10</a:t>
            </a:r>
            <a:endParaRPr lang="en-US" sz="1300" dirty="0"/>
          </a:p>
        </p:txBody>
      </p:sp>
      <p:sp>
        <p:nvSpPr>
          <p:cNvPr id="5" name="Text 2"/>
          <p:cNvSpPr/>
          <p:nvPr/>
        </p:nvSpPr>
        <p:spPr>
          <a:xfrm>
            <a:off x="914400" y="1463040"/>
            <a:ext cx="7315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893163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Nur was messbar ist,</a:t>
            </a:r>
            <a:endParaRPr lang="en-US" sz="2800" dirty="0"/>
          </a:p>
          <a:p>
            <a:pPr algn="ctr" indent="0" marL="0">
              <a:buNone/>
            </a:pPr>
            <a:r>
              <a:rPr lang="en-US" sz="2800" b="1" dirty="0">
                <a:solidFill>
                  <a:srgbClr val="893163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lässt sich verbessern.</a:t>
            </a:r>
            <a:endParaRPr lang="en-US" sz="2800" dirty="0"/>
          </a:p>
        </p:txBody>
      </p:sp>
      <p:sp>
        <p:nvSpPr>
          <p:cNvPr id="6" name="Shape 3"/>
          <p:cNvSpPr/>
          <p:nvPr/>
        </p:nvSpPr>
        <p:spPr>
          <a:xfrm>
            <a:off x="2286000" y="2377440"/>
            <a:ext cx="4572000" cy="13716"/>
          </a:xfrm>
          <a:prstGeom prst="rect">
            <a:avLst/>
          </a:prstGeom>
          <a:solidFill>
            <a:srgbClr val="893163">
              <a:alpha val="50000"/>
            </a:srgbClr>
          </a:solidFill>
          <a:ln/>
        </p:spPr>
      </p:sp>
      <p:sp>
        <p:nvSpPr>
          <p:cNvPr id="7" name="Text 4"/>
          <p:cNvSpPr/>
          <p:nvPr/>
        </p:nvSpPr>
        <p:spPr>
          <a:xfrm>
            <a:off x="914400" y="2560320"/>
            <a:ext cx="7315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893163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Machen Sie aus Bauchgefühl</a:t>
            </a:r>
            <a:endParaRPr lang="en-US" sz="2400" dirty="0"/>
          </a:p>
          <a:p>
            <a:pPr algn="ctr" indent="0" marL="0">
              <a:buNone/>
            </a:pPr>
            <a:r>
              <a:rPr lang="en-US" sz="2400" b="1" dirty="0">
                <a:solidFill>
                  <a:srgbClr val="893163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fundierte Steuerung.</a:t>
            </a:r>
            <a:endParaRPr lang="en-US" sz="2400" dirty="0"/>
          </a:p>
        </p:txBody>
      </p:sp>
      <p:sp>
        <p:nvSpPr>
          <p:cNvPr id="8" name="Shape 5"/>
          <p:cNvSpPr/>
          <p:nvPr/>
        </p:nvSpPr>
        <p:spPr>
          <a:xfrm>
            <a:off x="7269480" y="4114800"/>
            <a:ext cx="1737360" cy="914400"/>
          </a:xfrm>
          <a:prstGeom prst="rect">
            <a:avLst/>
          </a:prstGeom>
          <a:solidFill>
            <a:srgbClr val="FFFFFF">
              <a:alpha val="85000"/>
            </a:srgbClr>
          </a:solidFill>
          <a:ln/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0" y="4160520"/>
            <a:ext cx="1645920" cy="704088"/>
          </a:xfrm>
          <a:prstGeom prst="rect">
            <a:avLst/>
          </a:prstGeom>
        </p:spPr>
      </p:pic>
      <p:sp>
        <p:nvSpPr>
          <p:cNvPr id="10" name="Shape 6"/>
          <p:cNvSpPr/>
          <p:nvPr/>
        </p:nvSpPr>
        <p:spPr>
          <a:xfrm>
            <a:off x="7315200" y="4882896"/>
            <a:ext cx="1645920" cy="146304"/>
          </a:xfrm>
          <a:prstGeom prst="rect">
            <a:avLst/>
          </a:prstGeom>
          <a:solidFill>
            <a:srgbClr val="333333"/>
          </a:solidFill>
          <a:ln/>
        </p:spPr>
      </p:sp>
      <p:sp>
        <p:nvSpPr>
          <p:cNvPr id="11" name="Text 7"/>
          <p:cNvSpPr/>
          <p:nvPr/>
        </p:nvSpPr>
        <p:spPr>
          <a:xfrm>
            <a:off x="7360920" y="4882896"/>
            <a:ext cx="7315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dirty="0">
                <a:solidFill>
                  <a:srgbClr val="FFFFFF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▶ 0:24</a:t>
            </a:r>
            <a:endParaRPr lang="en-US" sz="600" dirty="0"/>
          </a:p>
        </p:txBody>
      </p:sp>
      <p:sp>
        <p:nvSpPr>
          <p:cNvPr id="12" name="Text 8"/>
          <p:cNvSpPr/>
          <p:nvPr/>
        </p:nvSpPr>
        <p:spPr>
          <a:xfrm>
            <a:off x="365760" y="4754880"/>
            <a:ext cx="8412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i="1" dirty="0">
                <a:solidFill>
                  <a:srgbClr val="6B7280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© by ELEVATOR42 -- SMARTER WAYS TO LEARN                    elevator42.com</a:t>
            </a:r>
            <a:endParaRPr lang="en-US" sz="7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8072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3493008" cy="5148072"/>
          </a:xfrm>
          <a:prstGeom prst="rect">
            <a:avLst/>
          </a:prstGeom>
          <a:solidFill>
            <a:srgbClr val="1F4E79"/>
          </a:solidFill>
          <a:ln/>
        </p:spPr>
      </p:sp>
      <p:pic>
        <p:nvPicPr>
          <p:cNvPr id="4" name="Image 1" descr="preencoded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274320" y="182880"/>
            <a:ext cx="2194560" cy="594360"/>
          </a:xfrm>
          <a:prstGeom prst="rect">
            <a:avLst/>
          </a:prstGeom>
        </p:spPr>
      </p:pic>
      <p:pic>
        <p:nvPicPr>
          <p:cNvPr id="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21040" y="137160"/>
            <a:ext cx="548640" cy="411480"/>
          </a:xfrm>
          <a:prstGeom prst="rect">
            <a:avLst/>
          </a:prstGeom>
        </p:spPr>
      </p:pic>
      <p:sp>
        <p:nvSpPr>
          <p:cNvPr id="6" name="Text 1"/>
          <p:cNvSpPr/>
          <p:nvPr/>
        </p:nvSpPr>
        <p:spPr>
          <a:xfrm>
            <a:off x="274320" y="1097280"/>
            <a:ext cx="3035808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600"/>
              </a:lnSpc>
              <a:buNone/>
            </a:pPr>
            <a:r>
              <a:rPr lang="en-US" sz="3000" dirty="0">
                <a:solidFill>
                  <a:srgbClr val="FFFFFF"/>
                </a:solidFill>
                <a:latin typeface="Fira Sans ExtraBold" pitchFamily="34" charset="0"/>
                <a:ea typeface="Fira Sans ExtraBold" pitchFamily="34" charset="-122"/>
                <a:cs typeface="Fira Sans ExtraBold" pitchFamily="34" charset="-120"/>
              </a:rPr>
              <a:t>Mehr</a:t>
            </a:r>
            <a:endParaRPr lang="en-US" sz="3000" dirty="0"/>
          </a:p>
          <a:p>
            <a:pPr indent="0" marL="0">
              <a:lnSpc>
                <a:spcPts val="3600"/>
              </a:lnSpc>
              <a:buNone/>
            </a:pPr>
            <a:r>
              <a:rPr lang="en-US" sz="3000" dirty="0">
                <a:solidFill>
                  <a:srgbClr val="FFFFFF"/>
                </a:solidFill>
                <a:latin typeface="Fira Sans ExtraBold" pitchFamily="34" charset="0"/>
                <a:ea typeface="Fira Sans ExtraBold" pitchFamily="34" charset="-122"/>
                <a:cs typeface="Fira Sans ExtraBold" pitchFamily="34" charset="-120"/>
              </a:rPr>
              <a:t>Privatpatienten</a:t>
            </a:r>
            <a:endParaRPr lang="en-US" sz="3000" dirty="0"/>
          </a:p>
          <a:p>
            <a:pPr indent="0" marL="0">
              <a:lnSpc>
                <a:spcPts val="3600"/>
              </a:lnSpc>
              <a:buNone/>
            </a:pPr>
            <a:r>
              <a:rPr lang="en-US" sz="3000" dirty="0">
                <a:solidFill>
                  <a:srgbClr val="FFFFFF"/>
                </a:solidFill>
                <a:latin typeface="Fira Sans ExtraBold" pitchFamily="34" charset="0"/>
                <a:ea typeface="Fira Sans ExtraBold" pitchFamily="34" charset="-122"/>
                <a:cs typeface="Fira Sans ExtraBold" pitchFamily="34" charset="-120"/>
              </a:rPr>
              <a:t>&amp; Selbstzahler</a:t>
            </a:r>
            <a:endParaRPr lang="en-US" sz="3000" dirty="0"/>
          </a:p>
          <a:p>
            <a:pPr indent="0" marL="0">
              <a:lnSpc>
                <a:spcPts val="3600"/>
              </a:lnSpc>
              <a:buNone/>
            </a:pPr>
            <a:r>
              <a:rPr lang="en-US" sz="3000" dirty="0">
                <a:solidFill>
                  <a:srgbClr val="FFFFFF"/>
                </a:solidFill>
                <a:latin typeface="Fira Sans ExtraBold" pitchFamily="34" charset="0"/>
                <a:ea typeface="Fira Sans ExtraBold" pitchFamily="34" charset="-122"/>
                <a:cs typeface="Fira Sans ExtraBold" pitchFamily="34" charset="-120"/>
              </a:rPr>
              <a:t>gewinnen</a:t>
            </a:r>
            <a:endParaRPr lang="en-US" sz="3000" dirty="0"/>
          </a:p>
        </p:txBody>
      </p:sp>
      <p:sp>
        <p:nvSpPr>
          <p:cNvPr id="7" name="Text 2"/>
          <p:cNvSpPr/>
          <p:nvPr/>
        </p:nvSpPr>
        <p:spPr>
          <a:xfrm>
            <a:off x="274320" y="3108960"/>
            <a:ext cx="294436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Die wirtschaftliche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Wachstumsstrategie für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moderne Praxen</a:t>
            </a:r>
            <a:endParaRPr lang="en-US" sz="1300" dirty="0"/>
          </a:p>
        </p:txBody>
      </p:sp>
      <p:sp>
        <p:nvSpPr>
          <p:cNvPr id="8" name="Shape 3"/>
          <p:cNvSpPr/>
          <p:nvPr/>
        </p:nvSpPr>
        <p:spPr>
          <a:xfrm>
            <a:off x="7269480" y="4114800"/>
            <a:ext cx="1737360" cy="914400"/>
          </a:xfrm>
          <a:prstGeom prst="rect">
            <a:avLst/>
          </a:prstGeom>
          <a:solidFill>
            <a:srgbClr val="FFFFFF">
              <a:alpha val="85000"/>
            </a:srgbClr>
          </a:solidFill>
          <a:ln/>
        </p:spPr>
      </p:sp>
      <p:pic>
        <p:nvPicPr>
          <p:cNvPr id="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15200" y="4160520"/>
            <a:ext cx="1645920" cy="704088"/>
          </a:xfrm>
          <a:prstGeom prst="rect">
            <a:avLst/>
          </a:prstGeom>
        </p:spPr>
      </p:pic>
      <p:sp>
        <p:nvSpPr>
          <p:cNvPr id="10" name="Shape 4"/>
          <p:cNvSpPr/>
          <p:nvPr/>
        </p:nvSpPr>
        <p:spPr>
          <a:xfrm>
            <a:off x="7315200" y="4882896"/>
            <a:ext cx="1645920" cy="146304"/>
          </a:xfrm>
          <a:prstGeom prst="rect">
            <a:avLst/>
          </a:prstGeom>
          <a:solidFill>
            <a:srgbClr val="333333"/>
          </a:solidFill>
          <a:ln/>
        </p:spPr>
      </p:sp>
      <p:sp>
        <p:nvSpPr>
          <p:cNvPr id="11" name="Text 5"/>
          <p:cNvSpPr/>
          <p:nvPr/>
        </p:nvSpPr>
        <p:spPr>
          <a:xfrm>
            <a:off x="7360920" y="4882896"/>
            <a:ext cx="7315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dirty="0">
                <a:solidFill>
                  <a:srgbClr val="FFFFFF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▶ 0:24</a:t>
            </a:r>
            <a:endParaRPr lang="en-US" sz="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Modul 10 – Controlling</dc:title>
  <dc:subject>PptxGenJS Presentation</dc:subject>
  <dc:creator>Elevator42</dc:creator>
  <cp:lastModifiedBy>Elevator42</cp:lastModifiedBy>
  <cp:revision>1</cp:revision>
  <dcterms:created xsi:type="dcterms:W3CDTF">2026-06-14T12:05:07Z</dcterms:created>
  <dcterms:modified xsi:type="dcterms:W3CDTF">2026-06-14T12:05:07Z</dcterms:modified>
</cp:coreProperties>
</file>