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4389120" y="2834640"/>
            <a:ext cx="4206240" cy="1691640"/>
          </a:xfrm>
          <a:prstGeom prst="rect">
            <a:avLst/>
          </a:prstGeom>
          <a:solidFill>
            <a:srgbClr val="FFFFFF">
              <a:alpha val="88000"/>
            </a:srgbClr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1"/>
          <p:cNvSpPr/>
          <p:nvPr/>
        </p:nvSpPr>
        <p:spPr>
          <a:xfrm>
            <a:off x="4617720" y="3063240"/>
            <a:ext cx="411480" cy="411480"/>
          </a:xfrm>
          <a:prstGeom prst="oval">
            <a:avLst/>
          </a:prstGeom>
          <a:solidFill>
            <a:srgbClr val="1F4E79">
              <a:alpha val="75000"/>
            </a:srgbClr>
          </a:solidFill>
          <a:ln/>
        </p:spPr>
      </p:sp>
      <p:sp>
        <p:nvSpPr>
          <p:cNvPr id="6" name="Text 2"/>
          <p:cNvSpPr/>
          <p:nvPr/>
        </p:nvSpPr>
        <p:spPr>
          <a:xfrm>
            <a:off x="5120640" y="30358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0/10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4617720" y="34747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Teaser-Modul</a:t>
            </a:r>
            <a:endParaRPr lang="en-US" sz="2400" dirty="0"/>
          </a:p>
        </p:txBody>
      </p:sp>
      <p:sp>
        <p:nvSpPr>
          <p:cNvPr id="8" name="Text 4"/>
          <p:cNvSpPr/>
          <p:nvPr/>
        </p:nvSpPr>
        <p:spPr>
          <a:xfrm>
            <a:off x="4617720" y="40233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Mehr Privatpatienten &amp; Selbstzahler gewinnen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37160"/>
            <a:ext cx="2926080" cy="34747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 O D U L Ü B E R S I C H T</a:t>
            </a:r>
            <a:endParaRPr lang="en-US" sz="8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65760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365760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01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475488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Grundlagen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75488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PKV &amp; Selbstzahler verstehen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3172968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172968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2" name="Text 9"/>
          <p:cNvSpPr/>
          <p:nvPr/>
        </p:nvSpPr>
        <p:spPr>
          <a:xfrm>
            <a:off x="3264408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02</a:t>
            </a:r>
            <a:endParaRPr lang="en-US" sz="700" dirty="0"/>
          </a:p>
        </p:txBody>
      </p:sp>
      <p:sp>
        <p:nvSpPr>
          <p:cNvPr id="13" name="Text 10"/>
          <p:cNvSpPr/>
          <p:nvPr/>
        </p:nvSpPr>
        <p:spPr>
          <a:xfrm>
            <a:off x="3282696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Positionierung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282696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Angebotsschärfung für Privatpatienten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5980176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980176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7" name="Text 14"/>
          <p:cNvSpPr/>
          <p:nvPr/>
        </p:nvSpPr>
        <p:spPr>
          <a:xfrm>
            <a:off x="6071616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03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6089904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Patient Journey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089904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Kontaktpunkte optimieren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365760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365760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2" name="Text 19"/>
          <p:cNvSpPr/>
          <p:nvPr/>
        </p:nvSpPr>
        <p:spPr>
          <a:xfrm>
            <a:off x="457200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04</a:t>
            </a:r>
            <a:endParaRPr lang="en-US" sz="700" dirty="0"/>
          </a:p>
        </p:txBody>
      </p:sp>
      <p:sp>
        <p:nvSpPr>
          <p:cNvPr id="23" name="Text 20"/>
          <p:cNvSpPr/>
          <p:nvPr/>
        </p:nvSpPr>
        <p:spPr>
          <a:xfrm>
            <a:off x="475488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Kommunikation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75488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Gesprächsführung mit Privatpatienten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3172968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3172968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7" name="Text 24"/>
          <p:cNvSpPr/>
          <p:nvPr/>
        </p:nvSpPr>
        <p:spPr>
          <a:xfrm>
            <a:off x="3264408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05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3282696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Preisstrategie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3282696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Honorargestaltung für Selbstzahler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5980176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5980176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2" name="Text 29"/>
          <p:cNvSpPr/>
          <p:nvPr/>
        </p:nvSpPr>
        <p:spPr>
          <a:xfrm>
            <a:off x="6071616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06</a:t>
            </a:r>
            <a:endParaRPr lang="en-US" sz="700" dirty="0"/>
          </a:p>
        </p:txBody>
      </p:sp>
      <p:sp>
        <p:nvSpPr>
          <p:cNvPr id="33" name="Text 30"/>
          <p:cNvSpPr/>
          <p:nvPr/>
        </p:nvSpPr>
        <p:spPr>
          <a:xfrm>
            <a:off x="6089904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Service &amp; Erlebnis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6089904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WOW-Effekte für Patienten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365760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365760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7" name="Text 34"/>
          <p:cNvSpPr/>
          <p:nvPr/>
        </p:nvSpPr>
        <p:spPr>
          <a:xfrm>
            <a:off x="457200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07</a:t>
            </a:r>
            <a:endParaRPr lang="en-US" sz="700" dirty="0"/>
          </a:p>
        </p:txBody>
      </p:sp>
      <p:sp>
        <p:nvSpPr>
          <p:cNvPr id="38" name="Text 35"/>
          <p:cNvSpPr/>
          <p:nvPr/>
        </p:nvSpPr>
        <p:spPr>
          <a:xfrm>
            <a:off x="475488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Recht &amp; Ethik</a:t>
            </a:r>
            <a:endParaRPr lang="en-US" sz="1400" dirty="0"/>
          </a:p>
        </p:txBody>
      </p:sp>
      <p:sp>
        <p:nvSpPr>
          <p:cNvPr id="39" name="Text 36"/>
          <p:cNvSpPr/>
          <p:nvPr/>
        </p:nvSpPr>
        <p:spPr>
          <a:xfrm>
            <a:off x="475488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Sicherheit und Vertrauen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3172968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3172968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2" name="Text 39"/>
          <p:cNvSpPr/>
          <p:nvPr/>
        </p:nvSpPr>
        <p:spPr>
          <a:xfrm>
            <a:off x="3264408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08</a:t>
            </a:r>
            <a:endParaRPr lang="en-US" sz="700" dirty="0"/>
          </a:p>
        </p:txBody>
      </p:sp>
      <p:sp>
        <p:nvSpPr>
          <p:cNvPr id="43" name="Text 40"/>
          <p:cNvSpPr/>
          <p:nvPr/>
        </p:nvSpPr>
        <p:spPr>
          <a:xfrm>
            <a:off x="3282696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Umsetzung &amp; Team</a:t>
            </a:r>
            <a:endParaRPr lang="en-US" sz="1400" dirty="0"/>
          </a:p>
        </p:txBody>
      </p:sp>
      <p:sp>
        <p:nvSpPr>
          <p:cNvPr id="44" name="Text 41"/>
          <p:cNvSpPr/>
          <p:nvPr/>
        </p:nvSpPr>
        <p:spPr>
          <a:xfrm>
            <a:off x="3282696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Nachhaltige Integration</a:t>
            </a:r>
            <a:endParaRPr lang="en-US" sz="800" dirty="0"/>
          </a:p>
        </p:txBody>
      </p:sp>
      <p:sp>
        <p:nvSpPr>
          <p:cNvPr id="45" name="Shape 42"/>
          <p:cNvSpPr/>
          <p:nvPr/>
        </p:nvSpPr>
        <p:spPr>
          <a:xfrm>
            <a:off x="5980176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980176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7" name="Text 44"/>
          <p:cNvSpPr/>
          <p:nvPr/>
        </p:nvSpPr>
        <p:spPr>
          <a:xfrm>
            <a:off x="6071616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09</a:t>
            </a:r>
            <a:endParaRPr lang="en-US" sz="700" dirty="0"/>
          </a:p>
        </p:txBody>
      </p:sp>
      <p:sp>
        <p:nvSpPr>
          <p:cNvPr id="48" name="Text 45"/>
          <p:cNvSpPr/>
          <p:nvPr/>
        </p:nvSpPr>
        <p:spPr>
          <a:xfrm>
            <a:off x="6089904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Marketing &amp; Wachstum</a:t>
            </a:r>
            <a:endParaRPr lang="en-US" sz="1400" dirty="0"/>
          </a:p>
        </p:txBody>
      </p:sp>
      <p:sp>
        <p:nvSpPr>
          <p:cNvPr id="49" name="Text 46"/>
          <p:cNvSpPr/>
          <p:nvPr/>
        </p:nvSpPr>
        <p:spPr>
          <a:xfrm>
            <a:off x="6089904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Sichtbarkeit und Empfehlungen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65760" y="3849624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365760" y="3849624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52" name="Text 49"/>
          <p:cNvSpPr/>
          <p:nvPr/>
        </p:nvSpPr>
        <p:spPr>
          <a:xfrm>
            <a:off x="457200" y="3849624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10</a:t>
            </a:r>
            <a:endParaRPr lang="en-US" sz="700" dirty="0"/>
          </a:p>
        </p:txBody>
      </p:sp>
      <p:sp>
        <p:nvSpPr>
          <p:cNvPr id="53" name="Text 50"/>
          <p:cNvSpPr/>
          <p:nvPr/>
        </p:nvSpPr>
        <p:spPr>
          <a:xfrm>
            <a:off x="475488" y="4105656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Controlling</a:t>
            </a:r>
            <a:endParaRPr lang="en-US" sz="1400" dirty="0"/>
          </a:p>
        </p:txBody>
      </p:sp>
      <p:sp>
        <p:nvSpPr>
          <p:cNvPr id="54" name="Text 51"/>
          <p:cNvSpPr/>
          <p:nvPr/>
        </p:nvSpPr>
        <p:spPr>
          <a:xfrm>
            <a:off x="475488" y="4471416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Optimierung &amp; KPIs</a:t>
            </a:r>
            <a:endParaRPr lang="en-US" sz="800" dirty="0"/>
          </a:p>
        </p:txBody>
      </p:sp>
      <p:sp>
        <p:nvSpPr>
          <p:cNvPr id="55" name="Text 5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44018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3670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TEASER · TEIL 1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Viele Praxen — ein bekanntes Muster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4114800" cy="2468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4114800" cy="4572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6"/>
          <p:cNvSpPr/>
          <p:nvPr/>
        </p:nvSpPr>
        <p:spPr>
          <a:xfrm>
            <a:off x="59436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Was viele erleben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59436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Zu wenig Zeit, zu viel Organisation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9436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Unsicherheit bei Honoraren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9436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Wachstum = mehr Termine = mehr Stress?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9436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Patienten mit immer höheren Erwartungen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0" y="1280160"/>
            <a:ext cx="4114800" cy="2468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572000" y="1280160"/>
            <a:ext cx="4114800" cy="4572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6" name="Text 13"/>
          <p:cNvSpPr/>
          <p:nvPr/>
        </p:nvSpPr>
        <p:spPr>
          <a:xfrm>
            <a:off x="480060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Wie erfolgreiche Praxen arbeiten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480060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Strukturierter, klarer und wirtschaftlicher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480060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Mehr Umsatz pro Patient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480060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Bessere Planbarkeit und Qualität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480060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Häufig sogar: weniger Stress im Alltag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365760" y="3657600"/>
            <a:ext cx="6766560" cy="365760"/>
          </a:xfrm>
          <a:prstGeom prst="rect">
            <a:avLst/>
          </a:prstGeom>
          <a:solidFill>
            <a:srgbClr val="F3E8EF"/>
          </a:solidFill>
          <a:ln/>
        </p:spPr>
      </p:sp>
      <p:sp>
        <p:nvSpPr>
          <p:cNvPr id="22" name="Shape 19"/>
          <p:cNvSpPr/>
          <p:nvPr/>
        </p:nvSpPr>
        <p:spPr>
          <a:xfrm>
            <a:off x="365760" y="3657600"/>
            <a:ext cx="45720" cy="36576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3" name="Text 20"/>
          <p:cNvSpPr/>
          <p:nvPr/>
        </p:nvSpPr>
        <p:spPr>
          <a:xfrm>
            <a:off x="548640" y="3657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Frage ist nicht: Mehr Patienten? Sondern: Wirtschaftlich intelligenter arbeiten.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7" name="Text 23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44018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3670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TEASER · TEIL 2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Das eigentliche Problem: 3 fehlende Hebel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2606040" cy="265176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2606040" cy="4572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6"/>
          <p:cNvSpPr/>
          <p:nvPr/>
        </p:nvSpPr>
        <p:spPr>
          <a:xfrm>
            <a:off x="365760" y="148132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01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365760" y="18745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Kommunikation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48640" y="22402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Leistungen werden nicht aktiv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erklärt — Patienten verstehen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den Nutzen nicht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200400" y="1280160"/>
            <a:ext cx="2606040" cy="265176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200400" y="1280160"/>
            <a:ext cx="2606040" cy="4572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4" name="Text 11"/>
          <p:cNvSpPr/>
          <p:nvPr/>
        </p:nvSpPr>
        <p:spPr>
          <a:xfrm>
            <a:off x="3200400" y="148132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02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3200400" y="18745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Prozesse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383280" y="22402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Telefonate verlaufen zufällig,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Abläufe fehlen — enormes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Potenzial geht verloren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035040" y="1280160"/>
            <a:ext cx="2606040" cy="265176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035040" y="1280160"/>
            <a:ext cx="2606040" cy="4572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9" name="Text 16"/>
          <p:cNvSpPr/>
          <p:nvPr/>
        </p:nvSpPr>
        <p:spPr>
          <a:xfrm>
            <a:off x="6035040" y="148132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03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6035040" y="18745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Positionierung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217920" y="22402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Keine klare Struktur —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Zusatzleistungen wirken wie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Verkauf statt Mehrwert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5" name="Text 21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44018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3670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TEASER · TEIL 3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Was Sie konkret erhalten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37160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005840" y="13716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10 Wissensmodule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48640" y="17830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30+ Videoeinheiten, aufeinander aufbauend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480560" y="128016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80560" y="128016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4" name="Text 11"/>
          <p:cNvSpPr/>
          <p:nvPr/>
        </p:nvSpPr>
        <p:spPr>
          <a:xfrm>
            <a:off x="4617720" y="137160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02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5120640" y="13716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Arbeitsmaterialien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663440" y="17830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Checklisten, Gesprächsleitfäden, direkt einsetzbare Formulierungen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65760" y="283464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365760" y="283464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9" name="Text 16"/>
          <p:cNvSpPr/>
          <p:nvPr/>
        </p:nvSpPr>
        <p:spPr>
          <a:xfrm>
            <a:off x="502920" y="292608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03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1005840" y="292608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Rollenspiele &amp; Training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48640" y="33375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Praxisnahes Training für das gesamte Praxisteam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480560" y="283464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480560" y="283464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4" name="Text 21"/>
          <p:cNvSpPr/>
          <p:nvPr/>
        </p:nvSpPr>
        <p:spPr>
          <a:xfrm>
            <a:off x="4617720" y="292608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04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5120640" y="292608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Teamlizenz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4663440" y="33375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Alle Arbeitsmaterialien für das gesamte Team inklusive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0" name="Text 26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8931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Kernbotschaft Modul 0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914400" y="14630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Die erfolgreichsten Praxen der Zukunft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verkaufen nicht mehr.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2286000" y="2377440"/>
            <a:ext cx="4572000" cy="13716"/>
          </a:xfrm>
          <a:prstGeom prst="rect">
            <a:avLst/>
          </a:prstGeom>
          <a:solidFill>
            <a:srgbClr val="893163">
              <a:alpha val="5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25603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Sie kommunizieren klarer, strukturierter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und wertiger.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2103120" y="3749040"/>
            <a:ext cx="4937760" cy="457200"/>
          </a:xfrm>
          <a:prstGeom prst="rect">
            <a:avLst/>
          </a:prstGeom>
          <a:solidFill>
            <a:srgbClr val="F5C518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2286000" y="3749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WEITER MIT MODUL 1  →  Grundlagen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3" name="Text 9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  <p:sp>
        <p:nvSpPr>
          <p:cNvPr id="14" name="Text 10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Teaser-Modul – Mehr Privatpatienten &amp; Selbstzahler gewinnen</dc:title>
  <dc:subject>PptxGenJS Presentation</dc:subject>
  <dc:creator>Elevator42</dc:creator>
  <cp:lastModifiedBy>Elevator42</cp:lastModifiedBy>
  <cp:revision>1</cp:revision>
  <dcterms:created xsi:type="dcterms:W3CDTF">2026-06-14T12:27:24Z</dcterms:created>
  <dcterms:modified xsi:type="dcterms:W3CDTF">2026-06-14T12:27:24Z</dcterms:modified>
</cp:coreProperties>
</file>