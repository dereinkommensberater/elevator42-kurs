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pic>
        <p:nvPicPr>
          <p:cNvPr id="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4389120" y="2834640"/>
            <a:ext cx="4206240" cy="1691640"/>
          </a:xfrm>
          <a:prstGeom prst="rect">
            <a:avLst/>
          </a:prstGeom>
          <a:solidFill>
            <a:srgbClr val="FFFFFF">
              <a:alpha val="88000"/>
            </a:srgbClr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" name="Shape 1"/>
          <p:cNvSpPr/>
          <p:nvPr/>
        </p:nvSpPr>
        <p:spPr>
          <a:xfrm>
            <a:off x="4617720" y="3063240"/>
            <a:ext cx="411480" cy="411480"/>
          </a:xfrm>
          <a:prstGeom prst="oval">
            <a:avLst/>
          </a:prstGeom>
          <a:solidFill>
            <a:srgbClr val="1F4E79">
              <a:alpha val="75000"/>
            </a:srgbClr>
          </a:solidFill>
          <a:ln/>
        </p:spPr>
      </p:sp>
      <p:sp>
        <p:nvSpPr>
          <p:cNvPr id="6" name="Text 2"/>
          <p:cNvSpPr/>
          <p:nvPr/>
        </p:nvSpPr>
        <p:spPr>
          <a:xfrm>
            <a:off x="5120640" y="303580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0/10</a:t>
            </a:r>
            <a:endParaRPr lang="en-US" sz="1100" dirty="0"/>
          </a:p>
        </p:txBody>
      </p:sp>
      <p:sp>
        <p:nvSpPr>
          <p:cNvPr id="7" name="Text 3"/>
          <p:cNvSpPr/>
          <p:nvPr/>
        </p:nvSpPr>
        <p:spPr>
          <a:xfrm>
            <a:off x="4617720" y="347472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Teaser-Modul</a:t>
            </a:r>
            <a:endParaRPr lang="en-US" sz="2400" dirty="0"/>
          </a:p>
        </p:txBody>
      </p:sp>
      <p:sp>
        <p:nvSpPr>
          <p:cNvPr id="8" name="Text 4"/>
          <p:cNvSpPr/>
          <p:nvPr/>
        </p:nvSpPr>
        <p:spPr>
          <a:xfrm>
            <a:off x="4617720" y="4023360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Mehr Privatpatienten &amp; Selbstzahler gewinnen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74320" y="137160"/>
            <a:ext cx="2926080" cy="347472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37160"/>
            <a:ext cx="2743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20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 O D U L Ü B E R S I C H T</a:t>
            </a:r>
            <a:endParaRPr lang="en-US" sz="8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365760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6" name="Shape 3"/>
          <p:cNvSpPr/>
          <p:nvPr/>
        </p:nvSpPr>
        <p:spPr>
          <a:xfrm>
            <a:off x="365760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7" name="Text 4"/>
          <p:cNvSpPr/>
          <p:nvPr/>
        </p:nvSpPr>
        <p:spPr>
          <a:xfrm>
            <a:off x="457200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01</a:t>
            </a:r>
            <a:endParaRPr lang="en-US" sz="700" dirty="0"/>
          </a:p>
        </p:txBody>
      </p:sp>
      <p:sp>
        <p:nvSpPr>
          <p:cNvPr id="8" name="Text 5"/>
          <p:cNvSpPr/>
          <p:nvPr/>
        </p:nvSpPr>
        <p:spPr>
          <a:xfrm>
            <a:off x="475488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Grundlagen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475488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PKV &amp; Selbstzahler verstehen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3172968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172968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2" name="Text 9"/>
          <p:cNvSpPr/>
          <p:nvPr/>
        </p:nvSpPr>
        <p:spPr>
          <a:xfrm>
            <a:off x="3264408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02</a:t>
            </a:r>
            <a:endParaRPr lang="en-US" sz="700" dirty="0"/>
          </a:p>
        </p:txBody>
      </p:sp>
      <p:sp>
        <p:nvSpPr>
          <p:cNvPr id="13" name="Text 10"/>
          <p:cNvSpPr/>
          <p:nvPr/>
        </p:nvSpPr>
        <p:spPr>
          <a:xfrm>
            <a:off x="3282696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3282696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Angebotsschärfung für Privatpatienten</a:t>
            </a:r>
            <a:endParaRPr lang="en-US" sz="800" dirty="0"/>
          </a:p>
        </p:txBody>
      </p:sp>
      <p:sp>
        <p:nvSpPr>
          <p:cNvPr id="15" name="Shape 12"/>
          <p:cNvSpPr/>
          <p:nvPr/>
        </p:nvSpPr>
        <p:spPr>
          <a:xfrm>
            <a:off x="5980176" y="640080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5980176" y="640080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7" name="Text 14"/>
          <p:cNvSpPr/>
          <p:nvPr/>
        </p:nvSpPr>
        <p:spPr>
          <a:xfrm>
            <a:off x="6071616" y="640080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03</a:t>
            </a:r>
            <a:endParaRPr lang="en-US" sz="700" dirty="0"/>
          </a:p>
        </p:txBody>
      </p:sp>
      <p:sp>
        <p:nvSpPr>
          <p:cNvPr id="18" name="Text 15"/>
          <p:cNvSpPr/>
          <p:nvPr/>
        </p:nvSpPr>
        <p:spPr>
          <a:xfrm>
            <a:off x="6089904" y="896112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Patient Journey</a:t>
            </a:r>
            <a:endParaRPr lang="en-US" sz="1400" dirty="0"/>
          </a:p>
        </p:txBody>
      </p:sp>
      <p:sp>
        <p:nvSpPr>
          <p:cNvPr id="19" name="Text 16"/>
          <p:cNvSpPr/>
          <p:nvPr/>
        </p:nvSpPr>
        <p:spPr>
          <a:xfrm>
            <a:off x="6089904" y="1261872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Kontaktpunkte optimieren</a:t>
            </a:r>
            <a:endParaRPr lang="en-US" sz="800" dirty="0"/>
          </a:p>
        </p:txBody>
      </p:sp>
      <p:sp>
        <p:nvSpPr>
          <p:cNvPr id="20" name="Shape 17"/>
          <p:cNvSpPr/>
          <p:nvPr/>
        </p:nvSpPr>
        <p:spPr>
          <a:xfrm>
            <a:off x="365760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365760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2" name="Text 19"/>
          <p:cNvSpPr/>
          <p:nvPr/>
        </p:nvSpPr>
        <p:spPr>
          <a:xfrm>
            <a:off x="457200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04</a:t>
            </a:r>
            <a:endParaRPr lang="en-US" sz="700" dirty="0"/>
          </a:p>
        </p:txBody>
      </p:sp>
      <p:sp>
        <p:nvSpPr>
          <p:cNvPr id="23" name="Text 20"/>
          <p:cNvSpPr/>
          <p:nvPr/>
        </p:nvSpPr>
        <p:spPr>
          <a:xfrm>
            <a:off x="475488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400" dirty="0"/>
          </a:p>
        </p:txBody>
      </p:sp>
      <p:sp>
        <p:nvSpPr>
          <p:cNvPr id="24" name="Text 21"/>
          <p:cNvSpPr/>
          <p:nvPr/>
        </p:nvSpPr>
        <p:spPr>
          <a:xfrm>
            <a:off x="475488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Gesprächsführung mit Privatpatienten</a:t>
            </a:r>
            <a:endParaRPr lang="en-US" sz="800" dirty="0"/>
          </a:p>
        </p:txBody>
      </p:sp>
      <p:sp>
        <p:nvSpPr>
          <p:cNvPr id="25" name="Shape 22"/>
          <p:cNvSpPr/>
          <p:nvPr/>
        </p:nvSpPr>
        <p:spPr>
          <a:xfrm>
            <a:off x="3172968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6" name="Shape 23"/>
          <p:cNvSpPr/>
          <p:nvPr/>
        </p:nvSpPr>
        <p:spPr>
          <a:xfrm>
            <a:off x="3172968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7" name="Text 24"/>
          <p:cNvSpPr/>
          <p:nvPr/>
        </p:nvSpPr>
        <p:spPr>
          <a:xfrm>
            <a:off x="3264408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05</a:t>
            </a:r>
            <a:endParaRPr lang="en-US" sz="700" dirty="0"/>
          </a:p>
        </p:txBody>
      </p:sp>
      <p:sp>
        <p:nvSpPr>
          <p:cNvPr id="28" name="Text 25"/>
          <p:cNvSpPr/>
          <p:nvPr/>
        </p:nvSpPr>
        <p:spPr>
          <a:xfrm>
            <a:off x="3282696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Preisstrategie</a:t>
            </a:r>
            <a:endParaRPr lang="en-US" sz="1400" dirty="0"/>
          </a:p>
        </p:txBody>
      </p:sp>
      <p:sp>
        <p:nvSpPr>
          <p:cNvPr id="29" name="Text 26"/>
          <p:cNvSpPr/>
          <p:nvPr/>
        </p:nvSpPr>
        <p:spPr>
          <a:xfrm>
            <a:off x="3282696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Honorargestaltung für Selbstzahler</a:t>
            </a:r>
            <a:endParaRPr lang="en-US" sz="800" dirty="0"/>
          </a:p>
        </p:txBody>
      </p:sp>
      <p:sp>
        <p:nvSpPr>
          <p:cNvPr id="30" name="Shape 27"/>
          <p:cNvSpPr/>
          <p:nvPr/>
        </p:nvSpPr>
        <p:spPr>
          <a:xfrm>
            <a:off x="5980176" y="1709928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5980176" y="1709928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2" name="Text 29"/>
          <p:cNvSpPr/>
          <p:nvPr/>
        </p:nvSpPr>
        <p:spPr>
          <a:xfrm>
            <a:off x="6071616" y="1709928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06</a:t>
            </a:r>
            <a:endParaRPr lang="en-US" sz="700" dirty="0"/>
          </a:p>
        </p:txBody>
      </p:sp>
      <p:sp>
        <p:nvSpPr>
          <p:cNvPr id="33" name="Text 30"/>
          <p:cNvSpPr/>
          <p:nvPr/>
        </p:nvSpPr>
        <p:spPr>
          <a:xfrm>
            <a:off x="6089904" y="1965960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Service &amp; Erlebnis</a:t>
            </a:r>
            <a:endParaRPr lang="en-US" sz="1400" dirty="0"/>
          </a:p>
        </p:txBody>
      </p:sp>
      <p:sp>
        <p:nvSpPr>
          <p:cNvPr id="34" name="Text 31"/>
          <p:cNvSpPr/>
          <p:nvPr/>
        </p:nvSpPr>
        <p:spPr>
          <a:xfrm>
            <a:off x="6089904" y="2331720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WOW-Effekte für Patienten</a:t>
            </a:r>
            <a:endParaRPr lang="en-US" sz="800" dirty="0"/>
          </a:p>
        </p:txBody>
      </p:sp>
      <p:sp>
        <p:nvSpPr>
          <p:cNvPr id="35" name="Shape 32"/>
          <p:cNvSpPr/>
          <p:nvPr/>
        </p:nvSpPr>
        <p:spPr>
          <a:xfrm>
            <a:off x="365760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365760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7" name="Text 34"/>
          <p:cNvSpPr/>
          <p:nvPr/>
        </p:nvSpPr>
        <p:spPr>
          <a:xfrm>
            <a:off x="457200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07</a:t>
            </a:r>
            <a:endParaRPr lang="en-US" sz="700" dirty="0"/>
          </a:p>
        </p:txBody>
      </p:sp>
      <p:sp>
        <p:nvSpPr>
          <p:cNvPr id="38" name="Text 35"/>
          <p:cNvSpPr/>
          <p:nvPr/>
        </p:nvSpPr>
        <p:spPr>
          <a:xfrm>
            <a:off x="475488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Recht &amp; Ethik</a:t>
            </a:r>
            <a:endParaRPr lang="en-US" sz="1400" dirty="0"/>
          </a:p>
        </p:txBody>
      </p:sp>
      <p:sp>
        <p:nvSpPr>
          <p:cNvPr id="39" name="Text 36"/>
          <p:cNvSpPr/>
          <p:nvPr/>
        </p:nvSpPr>
        <p:spPr>
          <a:xfrm>
            <a:off x="475488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Sicherheit und Vertrauen</a:t>
            </a:r>
            <a:endParaRPr lang="en-US" sz="800" dirty="0"/>
          </a:p>
        </p:txBody>
      </p:sp>
      <p:sp>
        <p:nvSpPr>
          <p:cNvPr id="40" name="Shape 37"/>
          <p:cNvSpPr/>
          <p:nvPr/>
        </p:nvSpPr>
        <p:spPr>
          <a:xfrm>
            <a:off x="3172968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1" name="Shape 38"/>
          <p:cNvSpPr/>
          <p:nvPr/>
        </p:nvSpPr>
        <p:spPr>
          <a:xfrm>
            <a:off x="3172968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2" name="Text 39"/>
          <p:cNvSpPr/>
          <p:nvPr/>
        </p:nvSpPr>
        <p:spPr>
          <a:xfrm>
            <a:off x="3264408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08</a:t>
            </a:r>
            <a:endParaRPr lang="en-US" sz="700" dirty="0"/>
          </a:p>
        </p:txBody>
      </p:sp>
      <p:sp>
        <p:nvSpPr>
          <p:cNvPr id="43" name="Text 40"/>
          <p:cNvSpPr/>
          <p:nvPr/>
        </p:nvSpPr>
        <p:spPr>
          <a:xfrm>
            <a:off x="3282696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Umsetzung &amp; Team</a:t>
            </a:r>
            <a:endParaRPr lang="en-US" sz="1400" dirty="0"/>
          </a:p>
        </p:txBody>
      </p:sp>
      <p:sp>
        <p:nvSpPr>
          <p:cNvPr id="44" name="Text 41"/>
          <p:cNvSpPr/>
          <p:nvPr/>
        </p:nvSpPr>
        <p:spPr>
          <a:xfrm>
            <a:off x="3282696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Nachhaltige Integration</a:t>
            </a:r>
            <a:endParaRPr lang="en-US" sz="800" dirty="0"/>
          </a:p>
        </p:txBody>
      </p:sp>
      <p:sp>
        <p:nvSpPr>
          <p:cNvPr id="45" name="Shape 42"/>
          <p:cNvSpPr/>
          <p:nvPr/>
        </p:nvSpPr>
        <p:spPr>
          <a:xfrm>
            <a:off x="5980176" y="2779776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46" name="Shape 43"/>
          <p:cNvSpPr/>
          <p:nvPr/>
        </p:nvSpPr>
        <p:spPr>
          <a:xfrm>
            <a:off x="5980176" y="2779776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47" name="Text 44"/>
          <p:cNvSpPr/>
          <p:nvPr/>
        </p:nvSpPr>
        <p:spPr>
          <a:xfrm>
            <a:off x="6071616" y="2779776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09</a:t>
            </a:r>
            <a:endParaRPr lang="en-US" sz="700" dirty="0"/>
          </a:p>
        </p:txBody>
      </p:sp>
      <p:sp>
        <p:nvSpPr>
          <p:cNvPr id="48" name="Text 45"/>
          <p:cNvSpPr/>
          <p:nvPr/>
        </p:nvSpPr>
        <p:spPr>
          <a:xfrm>
            <a:off x="6089904" y="3035808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Marketing &amp; Wachstum</a:t>
            </a:r>
            <a:endParaRPr lang="en-US" sz="1400" dirty="0"/>
          </a:p>
        </p:txBody>
      </p:sp>
      <p:sp>
        <p:nvSpPr>
          <p:cNvPr id="49" name="Text 46"/>
          <p:cNvSpPr/>
          <p:nvPr/>
        </p:nvSpPr>
        <p:spPr>
          <a:xfrm>
            <a:off x="6089904" y="3401568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Sichtbarkeit und Empfehlungen</a:t>
            </a:r>
            <a:endParaRPr lang="en-US" sz="800" dirty="0"/>
          </a:p>
        </p:txBody>
      </p:sp>
      <p:sp>
        <p:nvSpPr>
          <p:cNvPr id="50" name="Shape 47"/>
          <p:cNvSpPr/>
          <p:nvPr/>
        </p:nvSpPr>
        <p:spPr>
          <a:xfrm>
            <a:off x="365760" y="3849624"/>
            <a:ext cx="2606040" cy="96012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51" name="Shape 48"/>
          <p:cNvSpPr/>
          <p:nvPr/>
        </p:nvSpPr>
        <p:spPr>
          <a:xfrm>
            <a:off x="365760" y="3849624"/>
            <a:ext cx="2606040" cy="201168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52" name="Text 49"/>
          <p:cNvSpPr/>
          <p:nvPr/>
        </p:nvSpPr>
        <p:spPr>
          <a:xfrm>
            <a:off x="457200" y="3849624"/>
            <a:ext cx="24231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b="1" spc="15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MODUL  10</a:t>
            </a:r>
            <a:endParaRPr lang="en-US" sz="700" dirty="0"/>
          </a:p>
        </p:txBody>
      </p:sp>
      <p:sp>
        <p:nvSpPr>
          <p:cNvPr id="53" name="Text 50"/>
          <p:cNvSpPr/>
          <p:nvPr/>
        </p:nvSpPr>
        <p:spPr>
          <a:xfrm>
            <a:off x="475488" y="4105656"/>
            <a:ext cx="23865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Controlling</a:t>
            </a:r>
            <a:endParaRPr lang="en-US" sz="1400" dirty="0"/>
          </a:p>
        </p:txBody>
      </p:sp>
      <p:sp>
        <p:nvSpPr>
          <p:cNvPr id="54" name="Text 51"/>
          <p:cNvSpPr/>
          <p:nvPr/>
        </p:nvSpPr>
        <p:spPr>
          <a:xfrm>
            <a:off x="475488" y="4471416"/>
            <a:ext cx="23865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Optimierung &amp; KPIs</a:t>
            </a:r>
            <a:endParaRPr lang="en-US" sz="800" dirty="0"/>
          </a:p>
        </p:txBody>
      </p:sp>
      <p:sp>
        <p:nvSpPr>
          <p:cNvPr id="55" name="Text 5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1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Viele Praxen — ein bekanntes Muster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11480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59436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viele erleben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59436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Zu wenig Zeit, zu viel Organisation</a:t>
            </a:r>
            <a:endParaRPr lang="en-US" sz="1150" dirty="0"/>
          </a:p>
        </p:txBody>
      </p:sp>
      <p:sp>
        <p:nvSpPr>
          <p:cNvPr id="11" name="Text 8"/>
          <p:cNvSpPr/>
          <p:nvPr/>
        </p:nvSpPr>
        <p:spPr>
          <a:xfrm>
            <a:off x="59436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Unsicherheit bei Honoraren</a:t>
            </a:r>
            <a:endParaRPr lang="en-US" sz="1150" dirty="0"/>
          </a:p>
        </p:txBody>
      </p:sp>
      <p:sp>
        <p:nvSpPr>
          <p:cNvPr id="12" name="Text 9"/>
          <p:cNvSpPr/>
          <p:nvPr/>
        </p:nvSpPr>
        <p:spPr>
          <a:xfrm>
            <a:off x="59436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Wachstum = mehr Termine = mehr Stress?</a:t>
            </a:r>
            <a:endParaRPr lang="en-US" sz="1150" dirty="0"/>
          </a:p>
        </p:txBody>
      </p:sp>
      <p:sp>
        <p:nvSpPr>
          <p:cNvPr id="13" name="Text 10"/>
          <p:cNvSpPr/>
          <p:nvPr/>
        </p:nvSpPr>
        <p:spPr>
          <a:xfrm>
            <a:off x="59436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Patienten mit immer höheren Erwartungen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572000" y="1280160"/>
            <a:ext cx="4114800" cy="2468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4572000" y="1280160"/>
            <a:ext cx="411480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6" name="Text 13"/>
          <p:cNvSpPr/>
          <p:nvPr/>
        </p:nvSpPr>
        <p:spPr>
          <a:xfrm>
            <a:off x="4800600" y="1417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Wie erfolgreiche Praxen arbeiten</a:t>
            </a:r>
            <a:endParaRPr lang="en-US" sz="1700" dirty="0"/>
          </a:p>
        </p:txBody>
      </p:sp>
      <p:sp>
        <p:nvSpPr>
          <p:cNvPr id="17" name="Text 14"/>
          <p:cNvSpPr/>
          <p:nvPr/>
        </p:nvSpPr>
        <p:spPr>
          <a:xfrm>
            <a:off x="4800600" y="1874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Strukturierter, klarer und wirtschaftlicher</a:t>
            </a:r>
            <a:endParaRPr lang="en-US" sz="1150" dirty="0"/>
          </a:p>
        </p:txBody>
      </p:sp>
      <p:sp>
        <p:nvSpPr>
          <p:cNvPr id="18" name="Text 15"/>
          <p:cNvSpPr/>
          <p:nvPr/>
        </p:nvSpPr>
        <p:spPr>
          <a:xfrm>
            <a:off x="4800600" y="22402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Mehr Umsatz pro Patient</a:t>
            </a:r>
            <a:endParaRPr lang="en-US" sz="1150" dirty="0"/>
          </a:p>
        </p:txBody>
      </p:sp>
      <p:sp>
        <p:nvSpPr>
          <p:cNvPr id="19" name="Text 16"/>
          <p:cNvSpPr/>
          <p:nvPr/>
        </p:nvSpPr>
        <p:spPr>
          <a:xfrm>
            <a:off x="4800600" y="26060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Bessere Planbarkeit und Qualität</a:t>
            </a:r>
            <a:endParaRPr lang="en-US" sz="1150" dirty="0"/>
          </a:p>
        </p:txBody>
      </p:sp>
      <p:sp>
        <p:nvSpPr>
          <p:cNvPr id="20" name="Text 17"/>
          <p:cNvSpPr/>
          <p:nvPr/>
        </p:nvSpPr>
        <p:spPr>
          <a:xfrm>
            <a:off x="4800600" y="29718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▸ Häufig sogar: weniger Stress im Alltag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365760" y="3657600"/>
            <a:ext cx="6766560" cy="365760"/>
          </a:xfrm>
          <a:prstGeom prst="rect">
            <a:avLst/>
          </a:prstGeom>
          <a:solidFill>
            <a:srgbClr val="F3E8EF"/>
          </a:solidFill>
          <a:ln/>
        </p:spPr>
      </p:sp>
      <p:sp>
        <p:nvSpPr>
          <p:cNvPr id="22" name="Shape 19"/>
          <p:cNvSpPr/>
          <p:nvPr/>
        </p:nvSpPr>
        <p:spPr>
          <a:xfrm>
            <a:off x="365760" y="3657600"/>
            <a:ext cx="45720" cy="36576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3" name="Text 20"/>
          <p:cNvSpPr/>
          <p:nvPr/>
        </p:nvSpPr>
        <p:spPr>
          <a:xfrm>
            <a:off x="548640" y="3657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93163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Frage ist nicht: Mehr Patienten? Sondern: Wirtschaftlich intelligenter arbeiten.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5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6" name="Shape 22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7" name="Text 23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2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Das eigentliche Problem: 3 fehlende Hebel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2606040" cy="45720"/>
          </a:xfrm>
          <a:prstGeom prst="rect">
            <a:avLst/>
          </a:prstGeom>
          <a:solidFill>
            <a:srgbClr val="1F4E79"/>
          </a:solidFill>
          <a:ln/>
        </p:spPr>
      </p:sp>
      <p:sp>
        <p:nvSpPr>
          <p:cNvPr id="9" name="Text 6"/>
          <p:cNvSpPr/>
          <p:nvPr/>
        </p:nvSpPr>
        <p:spPr>
          <a:xfrm>
            <a:off x="36576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36576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Kommunikation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54864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Leistungen werden nicht aktiv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erklärt — Patienten verstehen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den Nutzen nicht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320040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200400" y="1280160"/>
            <a:ext cx="2606040" cy="4572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320040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400" dirty="0"/>
          </a:p>
        </p:txBody>
      </p:sp>
      <p:sp>
        <p:nvSpPr>
          <p:cNvPr id="15" name="Text 12"/>
          <p:cNvSpPr/>
          <p:nvPr/>
        </p:nvSpPr>
        <p:spPr>
          <a:xfrm>
            <a:off x="320040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Prozesse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338328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Telefonate verlaufen zufällig,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Abläufe fehlen — enormes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Potenzial geht verloren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6035040" y="1280160"/>
            <a:ext cx="2606040" cy="265176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6035040" y="1280160"/>
            <a:ext cx="2606040" cy="45720"/>
          </a:xfrm>
          <a:prstGeom prst="rect">
            <a:avLst/>
          </a:prstGeom>
          <a:solidFill>
            <a:srgbClr val="2D6A4F"/>
          </a:solidFill>
          <a:ln/>
        </p:spPr>
      </p:sp>
      <p:sp>
        <p:nvSpPr>
          <p:cNvPr id="19" name="Text 16"/>
          <p:cNvSpPr/>
          <p:nvPr/>
        </p:nvSpPr>
        <p:spPr>
          <a:xfrm>
            <a:off x="6035040" y="1481328"/>
            <a:ext cx="2606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400" dirty="0"/>
          </a:p>
        </p:txBody>
      </p:sp>
      <p:sp>
        <p:nvSpPr>
          <p:cNvPr id="20" name="Text 17"/>
          <p:cNvSpPr/>
          <p:nvPr/>
        </p:nvSpPr>
        <p:spPr>
          <a:xfrm>
            <a:off x="6035040" y="1874520"/>
            <a:ext cx="2606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Positionierung</a:t>
            </a:r>
            <a:endParaRPr lang="en-US" sz="1300" dirty="0"/>
          </a:p>
        </p:txBody>
      </p:sp>
      <p:sp>
        <p:nvSpPr>
          <p:cNvPr id="21" name="Text 18"/>
          <p:cNvSpPr/>
          <p:nvPr/>
        </p:nvSpPr>
        <p:spPr>
          <a:xfrm>
            <a:off x="6217920" y="2240280"/>
            <a:ext cx="22402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Keine klare Struktur —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Zusatzleistungen wirken wie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Verkauf statt Mehrwert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3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4" name="Shape 20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5" name="Text 21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164592"/>
            <a:ext cx="1440180" cy="256032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164592"/>
            <a:ext cx="136702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180" kern="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TEASER · TEIL 3</a:t>
            </a:r>
            <a:endParaRPr lang="en-US" sz="750" dirty="0"/>
          </a:p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  <p:sp>
        <p:nvSpPr>
          <p:cNvPr id="6" name="Text 3"/>
          <p:cNvSpPr/>
          <p:nvPr/>
        </p:nvSpPr>
        <p:spPr>
          <a:xfrm>
            <a:off x="365760" y="621792"/>
            <a:ext cx="7772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F4E79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Was Sie konkret erhalten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3657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8" name="Shape 5"/>
          <p:cNvSpPr/>
          <p:nvPr/>
        </p:nvSpPr>
        <p:spPr>
          <a:xfrm>
            <a:off x="3657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9" name="Text 6"/>
          <p:cNvSpPr/>
          <p:nvPr/>
        </p:nvSpPr>
        <p:spPr>
          <a:xfrm>
            <a:off x="5029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01</a:t>
            </a:r>
            <a:endParaRPr lang="en-US" sz="2000" dirty="0"/>
          </a:p>
        </p:txBody>
      </p:sp>
      <p:sp>
        <p:nvSpPr>
          <p:cNvPr id="10" name="Text 7"/>
          <p:cNvSpPr/>
          <p:nvPr/>
        </p:nvSpPr>
        <p:spPr>
          <a:xfrm>
            <a:off x="10058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10 Wissensmodule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5486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30+ Videoeinheiten, aufeinander aufbauend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4480560" y="128016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480560" y="128016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4" name="Text 11"/>
          <p:cNvSpPr/>
          <p:nvPr/>
        </p:nvSpPr>
        <p:spPr>
          <a:xfrm>
            <a:off x="4617720" y="137160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02</a:t>
            </a:r>
            <a:endParaRPr lang="en-US" sz="2000" dirty="0"/>
          </a:p>
        </p:txBody>
      </p:sp>
      <p:sp>
        <p:nvSpPr>
          <p:cNvPr id="15" name="Text 12"/>
          <p:cNvSpPr/>
          <p:nvPr/>
        </p:nvSpPr>
        <p:spPr>
          <a:xfrm>
            <a:off x="5120640" y="137160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Arbeitsmaterialien</a:t>
            </a:r>
            <a:endParaRPr lang="en-US" sz="1600" dirty="0"/>
          </a:p>
        </p:txBody>
      </p:sp>
      <p:sp>
        <p:nvSpPr>
          <p:cNvPr id="16" name="Text 13"/>
          <p:cNvSpPr/>
          <p:nvPr/>
        </p:nvSpPr>
        <p:spPr>
          <a:xfrm>
            <a:off x="4663440" y="178308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Checklisten, Gesprächsleitfäden, direkt einsetzbare Formulierungen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3657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3657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03</a:t>
            </a:r>
            <a:endParaRPr lang="en-US" sz="2000" dirty="0"/>
          </a:p>
        </p:txBody>
      </p:sp>
      <p:sp>
        <p:nvSpPr>
          <p:cNvPr id="20" name="Text 17"/>
          <p:cNvSpPr/>
          <p:nvPr/>
        </p:nvSpPr>
        <p:spPr>
          <a:xfrm>
            <a:off x="10058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Rollenspiele &amp; Training</a:t>
            </a:r>
            <a:endParaRPr lang="en-US" sz="1600" dirty="0"/>
          </a:p>
        </p:txBody>
      </p:sp>
      <p:sp>
        <p:nvSpPr>
          <p:cNvPr id="21" name="Text 18"/>
          <p:cNvSpPr/>
          <p:nvPr/>
        </p:nvSpPr>
        <p:spPr>
          <a:xfrm>
            <a:off x="5486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Praxisnahes Training für das gesamte Praxisteam</a:t>
            </a:r>
            <a:endParaRPr lang="en-US" sz="1050" dirty="0"/>
          </a:p>
        </p:txBody>
      </p:sp>
      <p:sp>
        <p:nvSpPr>
          <p:cNvPr id="22" name="Shape 19"/>
          <p:cNvSpPr/>
          <p:nvPr/>
        </p:nvSpPr>
        <p:spPr>
          <a:xfrm>
            <a:off x="4480560" y="2834640"/>
            <a:ext cx="3840480" cy="1325880"/>
          </a:xfrm>
          <a:prstGeom prst="rect">
            <a:avLst/>
          </a:prstGeom>
          <a:solidFill>
            <a:srgbClr val="1C3050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4480560" y="2834640"/>
            <a:ext cx="45720" cy="1325880"/>
          </a:xfrm>
          <a:prstGeom prst="rect">
            <a:avLst/>
          </a:prstGeom>
          <a:solidFill>
            <a:srgbClr val="893163"/>
          </a:solidFill>
          <a:ln/>
        </p:spPr>
      </p:sp>
      <p:sp>
        <p:nvSpPr>
          <p:cNvPr id="24" name="Text 21"/>
          <p:cNvSpPr/>
          <p:nvPr/>
        </p:nvSpPr>
        <p:spPr>
          <a:xfrm>
            <a:off x="4617720" y="292608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04</a:t>
            </a:r>
            <a:endParaRPr lang="en-US" sz="2000" dirty="0"/>
          </a:p>
        </p:txBody>
      </p:sp>
      <p:sp>
        <p:nvSpPr>
          <p:cNvPr id="25" name="Text 22"/>
          <p:cNvSpPr/>
          <p:nvPr/>
        </p:nvSpPr>
        <p:spPr>
          <a:xfrm>
            <a:off x="5120640" y="2926080"/>
            <a:ext cx="28346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Teamlizenz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4663440" y="333756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Alle Arbeitsmaterialien für das gesamte Team inklusive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28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29" name="Shape 25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30" name="Text 26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36576"/>
          </a:xfrm>
          <a:prstGeom prst="rect">
            <a:avLst/>
          </a:prstGeom>
          <a:solidFill>
            <a:srgbClr val="893163"/>
          </a:solidFill>
          <a:ln/>
        </p:spPr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5320" y="109728"/>
            <a:ext cx="457200" cy="347472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91440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spc="200" kern="0" dirty="0">
                <a:solidFill>
                  <a:srgbClr val="3D3D5C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Kernbotschaft Modul 0</a:t>
            </a:r>
            <a:endParaRPr lang="en-US" sz="1300" dirty="0"/>
          </a:p>
        </p:txBody>
      </p:sp>
      <p:sp>
        <p:nvSpPr>
          <p:cNvPr id="5" name="Text 2"/>
          <p:cNvSpPr/>
          <p:nvPr/>
        </p:nvSpPr>
        <p:spPr>
          <a:xfrm>
            <a:off x="914400" y="14630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Die erfolgreichsten Praxen der Zukunft</a:t>
            </a:r>
            <a:endParaRPr lang="en-US" sz="2800" dirty="0"/>
          </a:p>
          <a:p>
            <a:pPr algn="ctr" indent="0" marL="0">
              <a:buNone/>
            </a:pPr>
            <a:r>
              <a:rPr lang="en-US" sz="28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verkaufen nicht mehr.</a:t>
            </a:r>
            <a:endParaRPr lang="en-US" sz="2800" dirty="0"/>
          </a:p>
        </p:txBody>
      </p:sp>
      <p:sp>
        <p:nvSpPr>
          <p:cNvPr id="6" name="Shape 3"/>
          <p:cNvSpPr/>
          <p:nvPr/>
        </p:nvSpPr>
        <p:spPr>
          <a:xfrm>
            <a:off x="2286000" y="2377440"/>
            <a:ext cx="4572000" cy="13716"/>
          </a:xfrm>
          <a:prstGeom prst="rect">
            <a:avLst/>
          </a:prstGeom>
          <a:solidFill>
            <a:srgbClr val="893163">
              <a:alpha val="50000"/>
            </a:srgbClr>
          </a:solidFill>
          <a:ln/>
        </p:spPr>
      </p:sp>
      <p:sp>
        <p:nvSpPr>
          <p:cNvPr id="7" name="Text 4"/>
          <p:cNvSpPr/>
          <p:nvPr/>
        </p:nvSpPr>
        <p:spPr>
          <a:xfrm>
            <a:off x="914400" y="256032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Sie kommunizieren klarer, strukturierter</a:t>
            </a:r>
            <a:endParaRPr lang="en-US" sz="2400" dirty="0"/>
          </a:p>
          <a:p>
            <a:pPr algn="ctr" indent="0" marL="0">
              <a:buNone/>
            </a:pPr>
            <a:r>
              <a:rPr lang="en-US" sz="2400" b="1" dirty="0">
                <a:solidFill>
                  <a:srgbClr val="893163"/>
                </a:solidFill>
                <a:latin typeface="Fira Sans SemiBold" pitchFamily="34" charset="0"/>
                <a:ea typeface="Fira Sans SemiBold" pitchFamily="34" charset="-122"/>
                <a:cs typeface="Fira Sans SemiBold" pitchFamily="34" charset="-120"/>
              </a:rPr>
              <a:t>und wertiger.</a:t>
            </a:r>
            <a:endParaRPr lang="en-US" sz="2400" dirty="0"/>
          </a:p>
        </p:txBody>
      </p:sp>
      <p:sp>
        <p:nvSpPr>
          <p:cNvPr id="8" name="Shape 5"/>
          <p:cNvSpPr/>
          <p:nvPr/>
        </p:nvSpPr>
        <p:spPr>
          <a:xfrm>
            <a:off x="2103120" y="3749040"/>
            <a:ext cx="4937760" cy="457200"/>
          </a:xfrm>
          <a:prstGeom prst="rect">
            <a:avLst/>
          </a:prstGeom>
          <a:solidFill>
            <a:srgbClr val="F5C518"/>
          </a:solidFill>
          <a:ln/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2286000" y="3749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1A2E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WEITER MIT MODUL 1  →  Grundlagen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3" name="Text 9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  <p:sp>
        <p:nvSpPr>
          <p:cNvPr id="14" name="Text 10"/>
          <p:cNvSpPr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i="1" dirty="0">
                <a:solidFill>
                  <a:srgbClr val="6B7280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© by ELEVATOR42 -- SMARTER WAYS TO LEARN                    elevator42.com</a:t>
            </a:r>
            <a:endParaRPr lang="en-US" sz="7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8072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3493008" cy="5148072"/>
          </a:xfrm>
          <a:prstGeom prst="rect">
            <a:avLst/>
          </a:prstGeom>
          <a:solidFill>
            <a:srgbClr val="1F4E79"/>
          </a:solidFill>
          <a:ln/>
        </p:spPr>
      </p:sp>
      <p:pic>
        <p:nvPicPr>
          <p:cNvPr id="4" name="Image 1" descr="preencoded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182880"/>
            <a:ext cx="2194560" cy="594360"/>
          </a:xfrm>
          <a:prstGeom prst="rect">
            <a:avLst/>
          </a:prstGeom>
        </p:spPr>
      </p:pic>
      <p:pic>
        <p:nvPicPr>
          <p:cNvPr id="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21040" y="137160"/>
            <a:ext cx="548640" cy="411480"/>
          </a:xfrm>
          <a:prstGeom prst="rect">
            <a:avLst/>
          </a:prstGeom>
        </p:spPr>
      </p:pic>
      <p:sp>
        <p:nvSpPr>
          <p:cNvPr id="6" name="Text 1"/>
          <p:cNvSpPr/>
          <p:nvPr/>
        </p:nvSpPr>
        <p:spPr>
          <a:xfrm>
            <a:off x="274320" y="1097280"/>
            <a:ext cx="3035808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Mehr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Privatpatienten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&amp; Selbstzahler</a:t>
            </a:r>
            <a:endParaRPr lang="en-US" sz="3000" dirty="0"/>
          </a:p>
          <a:p>
            <a:pPr indent="0" marL="0">
              <a:lnSpc>
                <a:spcPts val="3600"/>
              </a:lnSpc>
              <a:buNone/>
            </a:pPr>
            <a:r>
              <a:rPr lang="en-US" sz="3000" dirty="0">
                <a:solidFill>
                  <a:srgbClr val="FFFFFF"/>
                </a:solidFill>
                <a:latin typeface="Fira Sans ExtraBold" pitchFamily="34" charset="0"/>
                <a:ea typeface="Fira Sans ExtraBold" pitchFamily="34" charset="-122"/>
                <a:cs typeface="Fira Sans ExtraBold" pitchFamily="34" charset="-120"/>
              </a:rPr>
              <a:t>gewinnen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274320" y="3108960"/>
            <a:ext cx="294436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Die wirtschaftliche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Wachstumsstrategie für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D6DCE5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moderne Praxen</a:t>
            </a:r>
            <a:endParaRPr lang="en-US" sz="1300" dirty="0"/>
          </a:p>
        </p:txBody>
      </p:sp>
      <p:sp>
        <p:nvSpPr>
          <p:cNvPr id="8" name="Shape 3"/>
          <p:cNvSpPr/>
          <p:nvPr/>
        </p:nvSpPr>
        <p:spPr>
          <a:xfrm>
            <a:off x="7269480" y="4114800"/>
            <a:ext cx="1737360" cy="914400"/>
          </a:xfrm>
          <a:prstGeom prst="rect">
            <a:avLst/>
          </a:prstGeom>
          <a:solidFill>
            <a:srgbClr val="FFFFFF">
              <a:alpha val="85000"/>
            </a:srgbClr>
          </a:solidFill>
          <a:ln/>
        </p:spPr>
      </p:sp>
      <p:pic>
        <p:nvPicPr>
          <p:cNvPr id="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15200" y="4160520"/>
            <a:ext cx="1645920" cy="704088"/>
          </a:xfrm>
          <a:prstGeom prst="rect">
            <a:avLst/>
          </a:prstGeom>
        </p:spPr>
      </p:pic>
      <p:sp>
        <p:nvSpPr>
          <p:cNvPr id="10" name="Shape 4"/>
          <p:cNvSpPr/>
          <p:nvPr/>
        </p:nvSpPr>
        <p:spPr>
          <a:xfrm>
            <a:off x="7315200" y="4882896"/>
            <a:ext cx="1645920" cy="146304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11" name="Text 5"/>
          <p:cNvSpPr/>
          <p:nvPr/>
        </p:nvSpPr>
        <p:spPr>
          <a:xfrm>
            <a:off x="7360920" y="4882896"/>
            <a:ext cx="7315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dirty="0">
                <a:solidFill>
                  <a:srgbClr val="FFFFFF"/>
                </a:solidFill>
                <a:latin typeface="Fira Sans" pitchFamily="34" charset="0"/>
                <a:ea typeface="Fira Sans" pitchFamily="34" charset="-122"/>
                <a:cs typeface="Fira Sans" pitchFamily="34" charset="-120"/>
              </a:rPr>
              <a:t>▶ 0:24</a:t>
            </a:r>
            <a:endParaRPr lang="en-US" sz="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Teaser-Modul – Mehr Privatpatienten &amp; Selbstzahler gewinnen</dc:title>
  <dc:subject>PptxGenJS Presentation</dc:subject>
  <dc:creator>Elevator42</dc:creator>
  <cp:lastModifiedBy>Elevator42</cp:lastModifiedBy>
  <cp:revision>1</cp:revision>
  <dcterms:created xsi:type="dcterms:W3CDTF">2026-06-14T12:41:12Z</dcterms:created>
  <dcterms:modified xsi:type="dcterms:W3CDTF">2026-06-14T12:41:12Z</dcterms:modified>
</cp:coreProperties>
</file>