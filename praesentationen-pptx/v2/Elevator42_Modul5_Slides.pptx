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8072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3493008" cy="5148072"/>
          </a:xfrm>
          <a:prstGeom prst="rect">
            <a:avLst/>
          </a:prstGeom>
          <a:solidFill>
            <a:srgbClr val="1F4E79"/>
          </a:solidFill>
          <a:ln/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74320" y="182880"/>
            <a:ext cx="2194560" cy="594360"/>
          </a:xfrm>
          <a:prstGeom prst="rect">
            <a:avLst/>
          </a:prstGeom>
        </p:spPr>
      </p:pic>
      <p:pic>
        <p:nvPicPr>
          <p:cNvPr id="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1040" y="137160"/>
            <a:ext cx="548640" cy="411480"/>
          </a:xfrm>
          <a:prstGeom prst="rect">
            <a:avLst/>
          </a:prstGeom>
        </p:spPr>
      </p:pic>
      <p:sp>
        <p:nvSpPr>
          <p:cNvPr id="6" name="Text 1"/>
          <p:cNvSpPr/>
          <p:nvPr/>
        </p:nvSpPr>
        <p:spPr>
          <a:xfrm>
            <a:off x="274320" y="1097280"/>
            <a:ext cx="303580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Mehr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Privatpatienten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&amp; Selbstzahler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gewinnen</a:t>
            </a:r>
            <a:endParaRPr lang="en-US" sz="3000" dirty="0"/>
          </a:p>
        </p:txBody>
      </p:sp>
      <p:sp>
        <p:nvSpPr>
          <p:cNvPr id="7" name="Text 2"/>
          <p:cNvSpPr/>
          <p:nvPr/>
        </p:nvSpPr>
        <p:spPr>
          <a:xfrm>
            <a:off x="274320" y="3108960"/>
            <a:ext cx="29443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Die wirtschaftliche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Wachstumsstrategie für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moderne Praxen</a:t>
            </a:r>
            <a:endParaRPr lang="en-US" sz="1300" dirty="0"/>
          </a:p>
        </p:txBody>
      </p:sp>
      <p:sp>
        <p:nvSpPr>
          <p:cNvPr id="8" name="Shape 3"/>
          <p:cNvSpPr/>
          <p:nvPr/>
        </p:nvSpPr>
        <p:spPr>
          <a:xfrm>
            <a:off x="7269480" y="4114800"/>
            <a:ext cx="1737360" cy="91440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0" y="4160520"/>
            <a:ext cx="1645920" cy="704088"/>
          </a:xfrm>
          <a:prstGeom prst="rect">
            <a:avLst/>
          </a:prstGeom>
        </p:spPr>
      </p:pic>
      <p:sp>
        <p:nvSpPr>
          <p:cNvPr id="10" name="Shape 4"/>
          <p:cNvSpPr/>
          <p:nvPr/>
        </p:nvSpPr>
        <p:spPr>
          <a:xfrm>
            <a:off x="7315200" y="4882896"/>
            <a:ext cx="1645920" cy="146304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11" name="Text 5"/>
          <p:cNvSpPr/>
          <p:nvPr/>
        </p:nvSpPr>
        <p:spPr>
          <a:xfrm>
            <a:off x="7360920" y="4882896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▶ 0:24</a:t>
            </a:r>
            <a:endParaRPr lang="en-US" sz="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8072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137160"/>
            <a:ext cx="548640" cy="41148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4389120" y="2834640"/>
            <a:ext cx="4206240" cy="1691640"/>
          </a:xfrm>
          <a:prstGeom prst="rect">
            <a:avLst/>
          </a:prstGeom>
          <a:solidFill>
            <a:srgbClr val="FFFFFF">
              <a:alpha val="88000"/>
            </a:srgbClr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5" name="Shape 1"/>
          <p:cNvSpPr/>
          <p:nvPr/>
        </p:nvSpPr>
        <p:spPr>
          <a:xfrm>
            <a:off x="4617720" y="3063240"/>
            <a:ext cx="411480" cy="411480"/>
          </a:xfrm>
          <a:prstGeom prst="oval">
            <a:avLst/>
          </a:prstGeom>
          <a:solidFill>
            <a:srgbClr val="1F4E79">
              <a:alpha val="75000"/>
            </a:srgbClr>
          </a:solidFill>
          <a:ln/>
        </p:spPr>
      </p:sp>
      <p:sp>
        <p:nvSpPr>
          <p:cNvPr id="6" name="Text 2"/>
          <p:cNvSpPr/>
          <p:nvPr/>
        </p:nvSpPr>
        <p:spPr>
          <a:xfrm>
            <a:off x="5120640" y="303580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1A1A2E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5/10</a:t>
            </a:r>
            <a:endParaRPr lang="en-US" sz="1100" dirty="0"/>
          </a:p>
        </p:txBody>
      </p:sp>
      <p:sp>
        <p:nvSpPr>
          <p:cNvPr id="7" name="Text 3"/>
          <p:cNvSpPr/>
          <p:nvPr/>
        </p:nvSpPr>
        <p:spPr>
          <a:xfrm>
            <a:off x="4617720" y="3474720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4E79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Preisstrategie</a:t>
            </a:r>
            <a:endParaRPr lang="en-US" sz="2400" dirty="0"/>
          </a:p>
        </p:txBody>
      </p:sp>
      <p:sp>
        <p:nvSpPr>
          <p:cNvPr id="8" name="Text 4"/>
          <p:cNvSpPr/>
          <p:nvPr/>
        </p:nvSpPr>
        <p:spPr>
          <a:xfrm>
            <a:off x="4617720" y="402336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3D3D5C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Honorargestaltung für Selbstzahler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137160"/>
            <a:ext cx="2926080" cy="347472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37160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 O D U L Ü B E R S I C H T</a:t>
            </a:r>
            <a:endParaRPr lang="en-US" sz="85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09728"/>
            <a:ext cx="457200" cy="347472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365760" y="640080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365760" y="640080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7" name="Text 4"/>
          <p:cNvSpPr/>
          <p:nvPr/>
        </p:nvSpPr>
        <p:spPr>
          <a:xfrm>
            <a:off x="457200" y="640080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01</a:t>
            </a:r>
            <a:endParaRPr lang="en-US" sz="700" dirty="0"/>
          </a:p>
        </p:txBody>
      </p:sp>
      <p:sp>
        <p:nvSpPr>
          <p:cNvPr id="8" name="Text 5"/>
          <p:cNvSpPr/>
          <p:nvPr/>
        </p:nvSpPr>
        <p:spPr>
          <a:xfrm>
            <a:off x="475488" y="896112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Grundlagen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75488" y="1261872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PKV &amp; Selbstzahler verstehen</a:t>
            </a:r>
            <a:endParaRPr lang="en-US" sz="800" dirty="0"/>
          </a:p>
        </p:txBody>
      </p:sp>
      <p:sp>
        <p:nvSpPr>
          <p:cNvPr id="10" name="Shape 7"/>
          <p:cNvSpPr/>
          <p:nvPr/>
        </p:nvSpPr>
        <p:spPr>
          <a:xfrm>
            <a:off x="3172968" y="640080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172968" y="640080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12" name="Text 9"/>
          <p:cNvSpPr/>
          <p:nvPr/>
        </p:nvSpPr>
        <p:spPr>
          <a:xfrm>
            <a:off x="3264408" y="640080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02</a:t>
            </a:r>
            <a:endParaRPr lang="en-US" sz="700" dirty="0"/>
          </a:p>
        </p:txBody>
      </p:sp>
      <p:sp>
        <p:nvSpPr>
          <p:cNvPr id="13" name="Text 10"/>
          <p:cNvSpPr/>
          <p:nvPr/>
        </p:nvSpPr>
        <p:spPr>
          <a:xfrm>
            <a:off x="3282696" y="896112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Positionierung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3282696" y="1261872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Angebotsschärfung für Privatpatienten</a:t>
            </a:r>
            <a:endParaRPr lang="en-US" sz="800" dirty="0"/>
          </a:p>
        </p:txBody>
      </p:sp>
      <p:sp>
        <p:nvSpPr>
          <p:cNvPr id="15" name="Shape 12"/>
          <p:cNvSpPr/>
          <p:nvPr/>
        </p:nvSpPr>
        <p:spPr>
          <a:xfrm>
            <a:off x="5980176" y="640080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5980176" y="640080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17" name="Text 14"/>
          <p:cNvSpPr/>
          <p:nvPr/>
        </p:nvSpPr>
        <p:spPr>
          <a:xfrm>
            <a:off x="6071616" y="640080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03</a:t>
            </a:r>
            <a:endParaRPr lang="en-US" sz="700" dirty="0"/>
          </a:p>
        </p:txBody>
      </p:sp>
      <p:sp>
        <p:nvSpPr>
          <p:cNvPr id="18" name="Text 15"/>
          <p:cNvSpPr/>
          <p:nvPr/>
        </p:nvSpPr>
        <p:spPr>
          <a:xfrm>
            <a:off x="6089904" y="896112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Patient Journey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6089904" y="1261872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Kontaktpunkte optimieren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365760" y="1709928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365760" y="1709928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22" name="Text 19"/>
          <p:cNvSpPr/>
          <p:nvPr/>
        </p:nvSpPr>
        <p:spPr>
          <a:xfrm>
            <a:off x="457200" y="1709928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04</a:t>
            </a:r>
            <a:endParaRPr lang="en-US" sz="700" dirty="0"/>
          </a:p>
        </p:txBody>
      </p:sp>
      <p:sp>
        <p:nvSpPr>
          <p:cNvPr id="23" name="Text 20"/>
          <p:cNvSpPr/>
          <p:nvPr/>
        </p:nvSpPr>
        <p:spPr>
          <a:xfrm>
            <a:off x="475488" y="1965960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Kommunikation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475488" y="2331720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Gesprächsführung mit Privatpatienten</a:t>
            </a:r>
            <a:endParaRPr lang="en-US" sz="800" dirty="0"/>
          </a:p>
        </p:txBody>
      </p:sp>
      <p:sp>
        <p:nvSpPr>
          <p:cNvPr id="25" name="Shape 22"/>
          <p:cNvSpPr/>
          <p:nvPr/>
        </p:nvSpPr>
        <p:spPr>
          <a:xfrm>
            <a:off x="3172968" y="1709928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3172968" y="1709928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27" name="Text 24"/>
          <p:cNvSpPr/>
          <p:nvPr/>
        </p:nvSpPr>
        <p:spPr>
          <a:xfrm>
            <a:off x="3264408" y="1709928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05</a:t>
            </a:r>
            <a:endParaRPr lang="en-US" sz="700" dirty="0"/>
          </a:p>
        </p:txBody>
      </p:sp>
      <p:sp>
        <p:nvSpPr>
          <p:cNvPr id="28" name="Text 25"/>
          <p:cNvSpPr/>
          <p:nvPr/>
        </p:nvSpPr>
        <p:spPr>
          <a:xfrm>
            <a:off x="3282696" y="1965960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Preisstrategie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3282696" y="2331720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Honorargestaltung für Selbstzahler</a:t>
            </a:r>
            <a:endParaRPr lang="en-US" sz="800" dirty="0"/>
          </a:p>
        </p:txBody>
      </p:sp>
      <p:sp>
        <p:nvSpPr>
          <p:cNvPr id="30" name="Shape 27"/>
          <p:cNvSpPr/>
          <p:nvPr/>
        </p:nvSpPr>
        <p:spPr>
          <a:xfrm>
            <a:off x="5980176" y="1709928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5980176" y="1709928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32" name="Text 29"/>
          <p:cNvSpPr/>
          <p:nvPr/>
        </p:nvSpPr>
        <p:spPr>
          <a:xfrm>
            <a:off x="6071616" y="1709928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06</a:t>
            </a:r>
            <a:endParaRPr lang="en-US" sz="700" dirty="0"/>
          </a:p>
        </p:txBody>
      </p:sp>
      <p:sp>
        <p:nvSpPr>
          <p:cNvPr id="33" name="Text 30"/>
          <p:cNvSpPr/>
          <p:nvPr/>
        </p:nvSpPr>
        <p:spPr>
          <a:xfrm>
            <a:off x="6089904" y="1965960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Service &amp; Erlebnis</a:t>
            </a:r>
            <a:endParaRPr lang="en-US" sz="1400" dirty="0"/>
          </a:p>
        </p:txBody>
      </p:sp>
      <p:sp>
        <p:nvSpPr>
          <p:cNvPr id="34" name="Text 31"/>
          <p:cNvSpPr/>
          <p:nvPr/>
        </p:nvSpPr>
        <p:spPr>
          <a:xfrm>
            <a:off x="6089904" y="2331720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WOW-Effekte für Patienten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365760" y="2779776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36" name="Shape 33"/>
          <p:cNvSpPr/>
          <p:nvPr/>
        </p:nvSpPr>
        <p:spPr>
          <a:xfrm>
            <a:off x="365760" y="2779776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37" name="Text 34"/>
          <p:cNvSpPr/>
          <p:nvPr/>
        </p:nvSpPr>
        <p:spPr>
          <a:xfrm>
            <a:off x="457200" y="2779776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07</a:t>
            </a:r>
            <a:endParaRPr lang="en-US" sz="700" dirty="0"/>
          </a:p>
        </p:txBody>
      </p:sp>
      <p:sp>
        <p:nvSpPr>
          <p:cNvPr id="38" name="Text 35"/>
          <p:cNvSpPr/>
          <p:nvPr/>
        </p:nvSpPr>
        <p:spPr>
          <a:xfrm>
            <a:off x="475488" y="3035808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Recht &amp; Ethik</a:t>
            </a:r>
            <a:endParaRPr lang="en-US" sz="1400" dirty="0"/>
          </a:p>
        </p:txBody>
      </p:sp>
      <p:sp>
        <p:nvSpPr>
          <p:cNvPr id="39" name="Text 36"/>
          <p:cNvSpPr/>
          <p:nvPr/>
        </p:nvSpPr>
        <p:spPr>
          <a:xfrm>
            <a:off x="475488" y="3401568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Sicherheit und Vertrauen</a:t>
            </a:r>
            <a:endParaRPr lang="en-US" sz="800" dirty="0"/>
          </a:p>
        </p:txBody>
      </p:sp>
      <p:sp>
        <p:nvSpPr>
          <p:cNvPr id="40" name="Shape 37"/>
          <p:cNvSpPr/>
          <p:nvPr/>
        </p:nvSpPr>
        <p:spPr>
          <a:xfrm>
            <a:off x="3172968" y="2779776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41" name="Shape 38"/>
          <p:cNvSpPr/>
          <p:nvPr/>
        </p:nvSpPr>
        <p:spPr>
          <a:xfrm>
            <a:off x="3172968" y="2779776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42" name="Text 39"/>
          <p:cNvSpPr/>
          <p:nvPr/>
        </p:nvSpPr>
        <p:spPr>
          <a:xfrm>
            <a:off x="3264408" y="2779776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08</a:t>
            </a:r>
            <a:endParaRPr lang="en-US" sz="700" dirty="0"/>
          </a:p>
        </p:txBody>
      </p:sp>
      <p:sp>
        <p:nvSpPr>
          <p:cNvPr id="43" name="Text 40"/>
          <p:cNvSpPr/>
          <p:nvPr/>
        </p:nvSpPr>
        <p:spPr>
          <a:xfrm>
            <a:off x="3282696" y="3035808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Umsetzung &amp; Team</a:t>
            </a:r>
            <a:endParaRPr lang="en-US" sz="1400" dirty="0"/>
          </a:p>
        </p:txBody>
      </p:sp>
      <p:sp>
        <p:nvSpPr>
          <p:cNvPr id="44" name="Text 41"/>
          <p:cNvSpPr/>
          <p:nvPr/>
        </p:nvSpPr>
        <p:spPr>
          <a:xfrm>
            <a:off x="3282696" y="3401568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Nachhaltige Integration in den Praxisalltag</a:t>
            </a:r>
            <a:endParaRPr lang="en-US" sz="800" dirty="0"/>
          </a:p>
        </p:txBody>
      </p:sp>
      <p:sp>
        <p:nvSpPr>
          <p:cNvPr id="45" name="Shape 42"/>
          <p:cNvSpPr/>
          <p:nvPr/>
        </p:nvSpPr>
        <p:spPr>
          <a:xfrm>
            <a:off x="5980176" y="2779776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46" name="Shape 43"/>
          <p:cNvSpPr/>
          <p:nvPr/>
        </p:nvSpPr>
        <p:spPr>
          <a:xfrm>
            <a:off x="5980176" y="2779776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47" name="Text 44"/>
          <p:cNvSpPr/>
          <p:nvPr/>
        </p:nvSpPr>
        <p:spPr>
          <a:xfrm>
            <a:off x="6071616" y="2779776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09</a:t>
            </a:r>
            <a:endParaRPr lang="en-US" sz="700" dirty="0"/>
          </a:p>
        </p:txBody>
      </p:sp>
      <p:sp>
        <p:nvSpPr>
          <p:cNvPr id="48" name="Text 45"/>
          <p:cNvSpPr/>
          <p:nvPr/>
        </p:nvSpPr>
        <p:spPr>
          <a:xfrm>
            <a:off x="6089904" y="3035808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Marketing &amp; Wachstum</a:t>
            </a:r>
            <a:endParaRPr lang="en-US" sz="1400" dirty="0"/>
          </a:p>
        </p:txBody>
      </p:sp>
      <p:sp>
        <p:nvSpPr>
          <p:cNvPr id="49" name="Text 46"/>
          <p:cNvSpPr/>
          <p:nvPr/>
        </p:nvSpPr>
        <p:spPr>
          <a:xfrm>
            <a:off x="6089904" y="3401568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Sichtbarkeit und Empfehlungen</a:t>
            </a:r>
            <a:endParaRPr lang="en-US" sz="800" dirty="0"/>
          </a:p>
        </p:txBody>
      </p:sp>
      <p:sp>
        <p:nvSpPr>
          <p:cNvPr id="50" name="Shape 47"/>
          <p:cNvSpPr/>
          <p:nvPr/>
        </p:nvSpPr>
        <p:spPr>
          <a:xfrm>
            <a:off x="365760" y="3849624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51" name="Shape 48"/>
          <p:cNvSpPr/>
          <p:nvPr/>
        </p:nvSpPr>
        <p:spPr>
          <a:xfrm>
            <a:off x="365760" y="3849624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52" name="Text 49"/>
          <p:cNvSpPr/>
          <p:nvPr/>
        </p:nvSpPr>
        <p:spPr>
          <a:xfrm>
            <a:off x="457200" y="3849624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10</a:t>
            </a:r>
            <a:endParaRPr lang="en-US" sz="700" dirty="0"/>
          </a:p>
        </p:txBody>
      </p:sp>
      <p:sp>
        <p:nvSpPr>
          <p:cNvPr id="53" name="Text 50"/>
          <p:cNvSpPr/>
          <p:nvPr/>
        </p:nvSpPr>
        <p:spPr>
          <a:xfrm>
            <a:off x="475488" y="4105656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Controlling</a:t>
            </a:r>
            <a:endParaRPr lang="en-US" sz="1400" dirty="0"/>
          </a:p>
        </p:txBody>
      </p:sp>
      <p:sp>
        <p:nvSpPr>
          <p:cNvPr id="54" name="Text 51"/>
          <p:cNvSpPr/>
          <p:nvPr/>
        </p:nvSpPr>
        <p:spPr>
          <a:xfrm>
            <a:off x="475488" y="4471416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Optimierung &amp; kontinuierliche Verbesserung</a:t>
            </a:r>
            <a:endParaRPr lang="en-US" sz="800" dirty="0"/>
          </a:p>
        </p:txBody>
      </p:sp>
      <p:sp>
        <p:nvSpPr>
          <p:cNvPr id="55" name="Text 52"/>
          <p:cNvSpPr/>
          <p:nvPr/>
        </p:nvSpPr>
        <p:spPr>
          <a:xfrm>
            <a:off x="365760" y="47548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B728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© by ELEVATOR42 -- SMARTER WAYS TO LEARN                    elevator42.com</a:t>
            </a:r>
            <a:endParaRPr lang="en-US" sz="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164592"/>
            <a:ext cx="1714500" cy="256032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16413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8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5 · LEKTION 1</a:t>
            </a:r>
            <a:endParaRPr lang="en-US" sz="75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09728"/>
            <a:ext cx="457200" cy="34747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65760" y="47548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B728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© by ELEVATOR42 -- SMARTER WAYS TO LEARN                    elevator42.com</a:t>
            </a:r>
            <a:endParaRPr lang="en-US" sz="700" dirty="0"/>
          </a:p>
        </p:txBody>
      </p:sp>
      <p:sp>
        <p:nvSpPr>
          <p:cNvPr id="6" name="Text 3"/>
          <p:cNvSpPr/>
          <p:nvPr/>
        </p:nvSpPr>
        <p:spPr>
          <a:xfrm>
            <a:off x="365760" y="621792"/>
            <a:ext cx="7772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79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Warum Preisstrategie entscheidet</a:t>
            </a:r>
            <a:endParaRPr lang="en-US" sz="2800" dirty="0"/>
          </a:p>
        </p:txBody>
      </p:sp>
      <p:sp>
        <p:nvSpPr>
          <p:cNvPr id="7" name="Shape 4"/>
          <p:cNvSpPr/>
          <p:nvPr/>
        </p:nvSpPr>
        <p:spPr>
          <a:xfrm>
            <a:off x="365760" y="1280160"/>
            <a:ext cx="4114800" cy="246888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365760" y="1280160"/>
            <a:ext cx="4114800" cy="45720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9" name="Text 6"/>
          <p:cNvSpPr/>
          <p:nvPr/>
        </p:nvSpPr>
        <p:spPr>
          <a:xfrm>
            <a:off x="594360" y="1417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Praxis A – 60 €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594360" y="18745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▸ Günstiger Preis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594360" y="22402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▸ Hohe Patientenzahl nötig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594360" y="26060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▸ Wenig Spielraum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594360" y="29718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93163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Billig = gut?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4572000" y="1280160"/>
            <a:ext cx="4114800" cy="246888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4572000" y="1280160"/>
            <a:ext cx="4114800" cy="45720"/>
          </a:xfrm>
          <a:prstGeom prst="rect">
            <a:avLst/>
          </a:prstGeom>
          <a:solidFill>
            <a:srgbClr val="2D6A4F"/>
          </a:solidFill>
          <a:ln/>
        </p:spPr>
      </p:sp>
      <p:sp>
        <p:nvSpPr>
          <p:cNvPr id="16" name="Text 13"/>
          <p:cNvSpPr/>
          <p:nvPr/>
        </p:nvSpPr>
        <p:spPr>
          <a:xfrm>
            <a:off x="4800600" y="1417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Praxis B – 120 €</a:t>
            </a:r>
            <a:endParaRPr lang="en-US" sz="1700" dirty="0"/>
          </a:p>
        </p:txBody>
      </p:sp>
      <p:sp>
        <p:nvSpPr>
          <p:cNvPr id="17" name="Text 14"/>
          <p:cNvSpPr/>
          <p:nvPr/>
        </p:nvSpPr>
        <p:spPr>
          <a:xfrm>
            <a:off x="4800600" y="18745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▸ Premium-Positionierung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4800600" y="22402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▸ Weniger Patienten, höherer Umsatz</a:t>
            </a:r>
            <a:endParaRPr lang="en-US" sz="1150" dirty="0"/>
          </a:p>
        </p:txBody>
      </p:sp>
      <p:sp>
        <p:nvSpPr>
          <p:cNvPr id="19" name="Text 16"/>
          <p:cNvSpPr/>
          <p:nvPr/>
        </p:nvSpPr>
        <p:spPr>
          <a:xfrm>
            <a:off x="4800600" y="26060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▸ Mehr Zeit pro Patient</a:t>
            </a:r>
            <a:endParaRPr lang="en-US" sz="1150" dirty="0"/>
          </a:p>
        </p:txBody>
      </p:sp>
      <p:sp>
        <p:nvSpPr>
          <p:cNvPr id="20" name="Text 17"/>
          <p:cNvSpPr/>
          <p:nvPr/>
        </p:nvSpPr>
        <p:spPr>
          <a:xfrm>
            <a:off x="4800600" y="29718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93163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Qualität hat ihren Wert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365760" y="3657600"/>
            <a:ext cx="6766560" cy="365760"/>
          </a:xfrm>
          <a:prstGeom prst="rect">
            <a:avLst/>
          </a:prstGeom>
          <a:solidFill>
            <a:srgbClr val="F3E8EF"/>
          </a:solidFill>
          <a:ln/>
        </p:spPr>
      </p:sp>
      <p:sp>
        <p:nvSpPr>
          <p:cNvPr id="22" name="Shape 19"/>
          <p:cNvSpPr/>
          <p:nvPr/>
        </p:nvSpPr>
        <p:spPr>
          <a:xfrm>
            <a:off x="365760" y="3657600"/>
            <a:ext cx="45720" cy="365760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23" name="Text 20"/>
          <p:cNvSpPr/>
          <p:nvPr/>
        </p:nvSpPr>
        <p:spPr>
          <a:xfrm>
            <a:off x="548640" y="36576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93163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Beide Praxen haben Patienten – aber unterschiedliche Geschäftsmodelle.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7269480" y="4114800"/>
            <a:ext cx="1737360" cy="91440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25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4160520"/>
            <a:ext cx="1645920" cy="704088"/>
          </a:xfrm>
          <a:prstGeom prst="rect">
            <a:avLst/>
          </a:prstGeom>
        </p:spPr>
      </p:pic>
      <p:sp>
        <p:nvSpPr>
          <p:cNvPr id="26" name="Shape 22"/>
          <p:cNvSpPr/>
          <p:nvPr/>
        </p:nvSpPr>
        <p:spPr>
          <a:xfrm>
            <a:off x="7315200" y="4882896"/>
            <a:ext cx="1645920" cy="146304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27" name="Text 23"/>
          <p:cNvSpPr/>
          <p:nvPr/>
        </p:nvSpPr>
        <p:spPr>
          <a:xfrm>
            <a:off x="7360920" y="4882896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▶ 0:24</a:t>
            </a:r>
            <a:endParaRPr lang="en-US" sz="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164592"/>
            <a:ext cx="1851660" cy="256032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17785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8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5 · LEKTION 2-3</a:t>
            </a:r>
            <a:endParaRPr lang="en-US" sz="75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09728"/>
            <a:ext cx="457200" cy="34747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65760" y="47548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B728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© by ELEVATOR42 -- SMARTER WAYS TO LEARN                    elevator42.com</a:t>
            </a:r>
            <a:endParaRPr lang="en-US" sz="700" dirty="0"/>
          </a:p>
        </p:txBody>
      </p:sp>
      <p:sp>
        <p:nvSpPr>
          <p:cNvPr id="6" name="Text 3"/>
          <p:cNvSpPr/>
          <p:nvPr/>
        </p:nvSpPr>
        <p:spPr>
          <a:xfrm>
            <a:off x="365760" y="621792"/>
            <a:ext cx="7772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79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Preislogik &amp; Psychologie</a:t>
            </a:r>
            <a:endParaRPr lang="en-US" sz="2800" dirty="0"/>
          </a:p>
        </p:txBody>
      </p:sp>
      <p:sp>
        <p:nvSpPr>
          <p:cNvPr id="7" name="Shape 4"/>
          <p:cNvSpPr/>
          <p:nvPr/>
        </p:nvSpPr>
        <p:spPr>
          <a:xfrm>
            <a:off x="365760" y="1316736"/>
            <a:ext cx="457200" cy="457200"/>
          </a:xfrm>
          <a:prstGeom prst="oval">
            <a:avLst/>
          </a:prstGeom>
          <a:solidFill>
            <a:srgbClr val="893163"/>
          </a:solidFill>
          <a:ln/>
        </p:spPr>
      </p:sp>
      <p:sp>
        <p:nvSpPr>
          <p:cNvPr id="8" name="Text 5"/>
          <p:cNvSpPr/>
          <p:nvPr/>
        </p:nvSpPr>
        <p:spPr>
          <a:xfrm>
            <a:off x="365760" y="13167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960120" y="1280160"/>
            <a:ext cx="6217920" cy="54864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1097280" y="128016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Kosten kennen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3566160" y="128016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Material, Zeit, Raum, Aufwand kalkulieren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365760" y="2048256"/>
            <a:ext cx="457200" cy="457200"/>
          </a:xfrm>
          <a:prstGeom prst="oval">
            <a:avLst/>
          </a:prstGeom>
          <a:solidFill>
            <a:srgbClr val="893163"/>
          </a:solidFill>
          <a:ln/>
        </p:spPr>
      </p:sp>
      <p:sp>
        <p:nvSpPr>
          <p:cNvPr id="13" name="Text 10"/>
          <p:cNvSpPr/>
          <p:nvPr/>
        </p:nvSpPr>
        <p:spPr>
          <a:xfrm>
            <a:off x="365760" y="20482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2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960120" y="2011680"/>
            <a:ext cx="6217920" cy="54864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1097280" y="20116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Marge festlegen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3566160" y="201168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30-50% Marge für wirtschaftliche Tragfähigkeit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365760" y="2779776"/>
            <a:ext cx="457200" cy="457200"/>
          </a:xfrm>
          <a:prstGeom prst="oval">
            <a:avLst/>
          </a:prstGeom>
          <a:solidFill>
            <a:srgbClr val="893163"/>
          </a:solidFill>
          <a:ln/>
        </p:spPr>
      </p:sp>
      <p:sp>
        <p:nvSpPr>
          <p:cNvPr id="18" name="Text 15"/>
          <p:cNvSpPr/>
          <p:nvPr/>
        </p:nvSpPr>
        <p:spPr>
          <a:xfrm>
            <a:off x="365760" y="27797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960120" y="2743200"/>
            <a:ext cx="6217920" cy="54864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0" name="Text 17"/>
          <p:cNvSpPr/>
          <p:nvPr/>
        </p:nvSpPr>
        <p:spPr>
          <a:xfrm>
            <a:off x="1097280" y="274320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Markt vergleichen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3566160" y="274320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Wettbewerb kennen, nicht kopieren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365760" y="3511296"/>
            <a:ext cx="457200" cy="457200"/>
          </a:xfrm>
          <a:prstGeom prst="oval">
            <a:avLst/>
          </a:prstGeom>
          <a:solidFill>
            <a:srgbClr val="893163"/>
          </a:solidFill>
          <a:ln/>
        </p:spPr>
      </p:sp>
      <p:sp>
        <p:nvSpPr>
          <p:cNvPr id="23" name="Text 20"/>
          <p:cNvSpPr/>
          <p:nvPr/>
        </p:nvSpPr>
        <p:spPr>
          <a:xfrm>
            <a:off x="365760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4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960120" y="3474720"/>
            <a:ext cx="6217920" cy="54864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Text 22"/>
          <p:cNvSpPr/>
          <p:nvPr/>
        </p:nvSpPr>
        <p:spPr>
          <a:xfrm>
            <a:off x="1097280" y="347472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Nutzen kommunizieren</a:t>
            </a:r>
            <a:endParaRPr lang="en-US" sz="1300" dirty="0"/>
          </a:p>
        </p:txBody>
      </p:sp>
      <p:sp>
        <p:nvSpPr>
          <p:cNvPr id="26" name="Text 23"/>
          <p:cNvSpPr/>
          <p:nvPr/>
        </p:nvSpPr>
        <p:spPr>
          <a:xfrm>
            <a:off x="3566160" y="347472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Immer Nutzen VOR Preis nennen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7269480" y="4114800"/>
            <a:ext cx="1737360" cy="91440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28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4160520"/>
            <a:ext cx="1645920" cy="704088"/>
          </a:xfrm>
          <a:prstGeom prst="rect">
            <a:avLst/>
          </a:prstGeom>
        </p:spPr>
      </p:pic>
      <p:sp>
        <p:nvSpPr>
          <p:cNvPr id="29" name="Shape 25"/>
          <p:cNvSpPr/>
          <p:nvPr/>
        </p:nvSpPr>
        <p:spPr>
          <a:xfrm>
            <a:off x="7315200" y="4882896"/>
            <a:ext cx="1645920" cy="146304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30" name="Text 26"/>
          <p:cNvSpPr/>
          <p:nvPr/>
        </p:nvSpPr>
        <p:spPr>
          <a:xfrm>
            <a:off x="7360920" y="4882896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▶ 0:24</a:t>
            </a:r>
            <a:endParaRPr lang="en-US" sz="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164592"/>
            <a:ext cx="1714500" cy="256032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16413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8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5 · LEKTION 4</a:t>
            </a:r>
            <a:endParaRPr lang="en-US" sz="75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09728"/>
            <a:ext cx="457200" cy="34747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65760" y="47548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B728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© by ELEVATOR42 -- SMARTER WAYS TO LEARN                    elevator42.com</a:t>
            </a:r>
            <a:endParaRPr lang="en-US" sz="700" dirty="0"/>
          </a:p>
        </p:txBody>
      </p:sp>
      <p:sp>
        <p:nvSpPr>
          <p:cNvPr id="6" name="Text 3"/>
          <p:cNvSpPr/>
          <p:nvPr/>
        </p:nvSpPr>
        <p:spPr>
          <a:xfrm>
            <a:off x="365760" y="621792"/>
            <a:ext cx="7772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79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Paketpreise vs. Einzelleistungen</a:t>
            </a:r>
            <a:endParaRPr lang="en-US" sz="2800" dirty="0"/>
          </a:p>
        </p:txBody>
      </p:sp>
      <p:sp>
        <p:nvSpPr>
          <p:cNvPr id="7" name="Shape 4"/>
          <p:cNvSpPr/>
          <p:nvPr/>
        </p:nvSpPr>
        <p:spPr>
          <a:xfrm>
            <a:off x="365760" y="1280160"/>
            <a:ext cx="2606040" cy="265176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365760" y="1280160"/>
            <a:ext cx="2606040" cy="45720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9" name="Text 6"/>
          <p:cNvSpPr/>
          <p:nvPr/>
        </p:nvSpPr>
        <p:spPr>
          <a:xfrm>
            <a:off x="365760" y="1481328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Einzel</a:t>
            </a:r>
            <a:endParaRPr lang="en-US" sz="2400" dirty="0"/>
          </a:p>
        </p:txBody>
      </p:sp>
      <p:sp>
        <p:nvSpPr>
          <p:cNvPr id="10" name="Text 7"/>
          <p:cNvSpPr/>
          <p:nvPr/>
        </p:nvSpPr>
        <p:spPr>
          <a:xfrm>
            <a:off x="365760" y="187452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Pro Termin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548640" y="2240280"/>
            <a:ext cx="2240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Transparent.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Flexibel.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Aber: vergleichbar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und austauschbar.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3200400" y="1280160"/>
            <a:ext cx="2606040" cy="265176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3200400" y="1280160"/>
            <a:ext cx="2606040" cy="45720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14" name="Text 11"/>
          <p:cNvSpPr/>
          <p:nvPr/>
        </p:nvSpPr>
        <p:spPr>
          <a:xfrm>
            <a:off x="3200400" y="1481328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Paket</a:t>
            </a:r>
            <a:endParaRPr lang="en-US" sz="2400" dirty="0"/>
          </a:p>
        </p:txBody>
      </p:sp>
      <p:sp>
        <p:nvSpPr>
          <p:cNvPr id="15" name="Text 12"/>
          <p:cNvSpPr/>
          <p:nvPr/>
        </p:nvSpPr>
        <p:spPr>
          <a:xfrm>
            <a:off x="3200400" y="187452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Gebündelt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3383280" y="2240280"/>
            <a:ext cx="2240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Höhere Wertigkeit.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Weniger vergleichbar.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Mehr Bindung.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Besseres Erlebnis.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6035040" y="1280160"/>
            <a:ext cx="2606040" cy="265176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6035040" y="1280160"/>
            <a:ext cx="2606040" cy="45720"/>
          </a:xfrm>
          <a:prstGeom prst="rect">
            <a:avLst/>
          </a:prstGeom>
          <a:solidFill>
            <a:srgbClr val="2D6A4F"/>
          </a:solidFill>
          <a:ln/>
        </p:spPr>
      </p:sp>
      <p:sp>
        <p:nvSpPr>
          <p:cNvPr id="19" name="Text 16"/>
          <p:cNvSpPr/>
          <p:nvPr/>
        </p:nvSpPr>
        <p:spPr>
          <a:xfrm>
            <a:off x="6035040" y="1481328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Premium</a:t>
            </a:r>
            <a:endParaRPr lang="en-US" sz="2400" dirty="0"/>
          </a:p>
        </p:txBody>
      </p:sp>
      <p:sp>
        <p:nvSpPr>
          <p:cNvPr id="20" name="Text 17"/>
          <p:cNvSpPr/>
          <p:nvPr/>
        </p:nvSpPr>
        <p:spPr>
          <a:xfrm>
            <a:off x="6035040" y="187452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Exklusiv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6217920" y="2240280"/>
            <a:ext cx="2240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Maximale Individualisierung.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Höchster Nutzen.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Stärkste Bindung.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Beste Marge.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365760" y="3840480"/>
            <a:ext cx="6766560" cy="365760"/>
          </a:xfrm>
          <a:prstGeom prst="rect">
            <a:avLst/>
          </a:prstGeom>
          <a:solidFill>
            <a:srgbClr val="F3E8EF"/>
          </a:solidFill>
          <a:ln/>
        </p:spPr>
      </p:sp>
      <p:sp>
        <p:nvSpPr>
          <p:cNvPr id="23" name="Shape 20"/>
          <p:cNvSpPr/>
          <p:nvPr/>
        </p:nvSpPr>
        <p:spPr>
          <a:xfrm>
            <a:off x="365760" y="3840480"/>
            <a:ext cx="45720" cy="365760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24" name="Text 21"/>
          <p:cNvSpPr/>
          <p:nvPr/>
        </p:nvSpPr>
        <p:spPr>
          <a:xfrm>
            <a:off x="548640" y="384048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93163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Ein Paket ist kein Rabatt – sondern ein durchdachtes Gesamtangebot.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7269480" y="4114800"/>
            <a:ext cx="1737360" cy="91440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26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4160520"/>
            <a:ext cx="1645920" cy="704088"/>
          </a:xfrm>
          <a:prstGeom prst="rect">
            <a:avLst/>
          </a:prstGeom>
        </p:spPr>
      </p:pic>
      <p:sp>
        <p:nvSpPr>
          <p:cNvPr id="27" name="Shape 23"/>
          <p:cNvSpPr/>
          <p:nvPr/>
        </p:nvSpPr>
        <p:spPr>
          <a:xfrm>
            <a:off x="7315200" y="4882896"/>
            <a:ext cx="1645920" cy="146304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28" name="Text 24"/>
          <p:cNvSpPr/>
          <p:nvPr/>
        </p:nvSpPr>
        <p:spPr>
          <a:xfrm>
            <a:off x="7360920" y="4882896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▶ 0:24</a:t>
            </a:r>
            <a:endParaRPr lang="en-US" sz="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164592"/>
            <a:ext cx="1851660" cy="256032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17785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8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5 · LEKTION 5-6</a:t>
            </a:r>
            <a:endParaRPr lang="en-US" sz="75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09728"/>
            <a:ext cx="457200" cy="34747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65760" y="47548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B728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© by ELEVATOR42 -- SMARTER WAYS TO LEARN                    elevator42.com</a:t>
            </a:r>
            <a:endParaRPr lang="en-US" sz="700" dirty="0"/>
          </a:p>
        </p:txBody>
      </p:sp>
      <p:sp>
        <p:nvSpPr>
          <p:cNvPr id="6" name="Text 3"/>
          <p:cNvSpPr/>
          <p:nvPr/>
        </p:nvSpPr>
        <p:spPr>
          <a:xfrm>
            <a:off x="365760" y="621792"/>
            <a:ext cx="7772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79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Typische Preisfehler</a:t>
            </a:r>
            <a:endParaRPr lang="en-US" sz="2800" dirty="0"/>
          </a:p>
        </p:txBody>
      </p:sp>
      <p:sp>
        <p:nvSpPr>
          <p:cNvPr id="7" name="Shape 4"/>
          <p:cNvSpPr/>
          <p:nvPr/>
        </p:nvSpPr>
        <p:spPr>
          <a:xfrm>
            <a:off x="365760" y="1280160"/>
            <a:ext cx="6766560" cy="621792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365760" y="1280160"/>
            <a:ext cx="54864" cy="621792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9" name="Text 6"/>
          <p:cNvSpPr/>
          <p:nvPr/>
        </p:nvSpPr>
        <p:spPr>
          <a:xfrm>
            <a:off x="640080" y="1280160"/>
            <a:ext cx="2560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Zu billig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3291840" y="1280160"/>
            <a:ext cx="3474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Signalisiert geringe Qualität oder Unsicherheit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365760" y="2057400"/>
            <a:ext cx="6766560" cy="621792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65760" y="2057400"/>
            <a:ext cx="54864" cy="621792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13" name="Text 10"/>
          <p:cNvSpPr/>
          <p:nvPr/>
        </p:nvSpPr>
        <p:spPr>
          <a:xfrm>
            <a:off x="640080" y="2057400"/>
            <a:ext cx="2560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Keine Kalkulation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3291840" y="2057400"/>
            <a:ext cx="3474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Preise aus dem Bauch heraus – nicht nachhaltig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365760" y="2834640"/>
            <a:ext cx="6766560" cy="621792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365760" y="2834640"/>
            <a:ext cx="54864" cy="621792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17" name="Text 14"/>
          <p:cNvSpPr/>
          <p:nvPr/>
        </p:nvSpPr>
        <p:spPr>
          <a:xfrm>
            <a:off x="640080" y="2834640"/>
            <a:ext cx="2560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Rechtfertigung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3291840" y="2834640"/>
            <a:ext cx="3474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Ich weiß, das ist nicht billig, aber...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365760" y="3611880"/>
            <a:ext cx="6766560" cy="621792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365760" y="3611880"/>
            <a:ext cx="54864" cy="621792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1" name="Text 18"/>
          <p:cNvSpPr/>
          <p:nvPr/>
        </p:nvSpPr>
        <p:spPr>
          <a:xfrm>
            <a:off x="640080" y="3611880"/>
            <a:ext cx="2560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Rabatte ungefragt</a:t>
            </a:r>
            <a:endParaRPr lang="en-US" sz="1400" dirty="0"/>
          </a:p>
        </p:txBody>
      </p:sp>
      <p:sp>
        <p:nvSpPr>
          <p:cNvPr id="22" name="Text 19"/>
          <p:cNvSpPr/>
          <p:nvPr/>
        </p:nvSpPr>
        <p:spPr>
          <a:xfrm>
            <a:off x="3291840" y="3611880"/>
            <a:ext cx="3474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Senkt den wahrgenommenen Wert sofort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7269480" y="4114800"/>
            <a:ext cx="1737360" cy="91440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24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4160520"/>
            <a:ext cx="1645920" cy="704088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7315200" y="4882896"/>
            <a:ext cx="1645920" cy="146304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26" name="Text 22"/>
          <p:cNvSpPr/>
          <p:nvPr/>
        </p:nvSpPr>
        <p:spPr>
          <a:xfrm>
            <a:off x="7360920" y="4882896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▶ 0:24</a:t>
            </a:r>
            <a:endParaRPr lang="en-US" sz="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893163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09728"/>
            <a:ext cx="4572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9144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spc="200" kern="0" dirty="0">
                <a:solidFill>
                  <a:srgbClr val="3D3D5C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Kernbotschaft Modul 5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914400" y="14630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Preise sind keine</a:t>
            </a:r>
            <a:endParaRPr lang="en-US" sz="2800" dirty="0"/>
          </a:p>
          <a:p>
            <a:pPr algn="ctr" indent="0" marL="0">
              <a:buNone/>
            </a:pPr>
            <a:r>
              <a:rPr lang="en-US" sz="28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Rechtfertigung.</a:t>
            </a:r>
            <a:endParaRPr lang="en-US" sz="2800" dirty="0"/>
          </a:p>
        </p:txBody>
      </p:sp>
      <p:sp>
        <p:nvSpPr>
          <p:cNvPr id="6" name="Shape 3"/>
          <p:cNvSpPr/>
          <p:nvPr/>
        </p:nvSpPr>
        <p:spPr>
          <a:xfrm>
            <a:off x="2286000" y="2377440"/>
            <a:ext cx="4572000" cy="13716"/>
          </a:xfrm>
          <a:prstGeom prst="rect">
            <a:avLst/>
          </a:prstGeom>
          <a:solidFill>
            <a:srgbClr val="893163">
              <a:alpha val="50000"/>
            </a:srgbClr>
          </a:solidFill>
          <a:ln/>
        </p:spPr>
      </p:sp>
      <p:sp>
        <p:nvSpPr>
          <p:cNvPr id="7" name="Text 4"/>
          <p:cNvSpPr/>
          <p:nvPr/>
        </p:nvSpPr>
        <p:spPr>
          <a:xfrm>
            <a:off x="914400" y="256032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Preise sind ein Versprechen</a:t>
            </a:r>
            <a:endParaRPr lang="en-US" sz="2400" dirty="0"/>
          </a:p>
          <a:p>
            <a:pPr algn="ctr" indent="0" marL="0">
              <a:buNone/>
            </a:pPr>
            <a:r>
              <a:rPr lang="en-US" sz="24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von Qualität und Wert.</a:t>
            </a:r>
            <a:endParaRPr lang="en-US" sz="2400" dirty="0"/>
          </a:p>
        </p:txBody>
      </p:sp>
      <p:sp>
        <p:nvSpPr>
          <p:cNvPr id="8" name="Shape 5"/>
          <p:cNvSpPr/>
          <p:nvPr/>
        </p:nvSpPr>
        <p:spPr>
          <a:xfrm>
            <a:off x="2103120" y="3749040"/>
            <a:ext cx="4937760" cy="457200"/>
          </a:xfrm>
          <a:prstGeom prst="rect">
            <a:avLst/>
          </a:prstGeom>
          <a:solidFill>
            <a:srgbClr val="F5C518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2286000" y="37490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WEITER MIT MODUL 6  →  Service &amp; Patientenerlebnis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7269480" y="4114800"/>
            <a:ext cx="1737360" cy="91440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4160520"/>
            <a:ext cx="1645920" cy="704088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7315200" y="4882896"/>
            <a:ext cx="1645920" cy="146304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13" name="Text 9"/>
          <p:cNvSpPr/>
          <p:nvPr/>
        </p:nvSpPr>
        <p:spPr>
          <a:xfrm>
            <a:off x="7360920" y="4882896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▶ 0:24</a:t>
            </a:r>
            <a:endParaRPr lang="en-US" sz="600" dirty="0"/>
          </a:p>
        </p:txBody>
      </p:sp>
      <p:sp>
        <p:nvSpPr>
          <p:cNvPr id="14" name="Text 10"/>
          <p:cNvSpPr/>
          <p:nvPr/>
        </p:nvSpPr>
        <p:spPr>
          <a:xfrm>
            <a:off x="365760" y="47548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B728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© by ELEVATOR42 -- SMARTER WAYS TO LEARN                    elevator42.com</a:t>
            </a:r>
            <a:endParaRPr lang="en-US" sz="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8072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3493008" cy="5148072"/>
          </a:xfrm>
          <a:prstGeom prst="rect">
            <a:avLst/>
          </a:prstGeom>
          <a:solidFill>
            <a:srgbClr val="1F4E79"/>
          </a:solidFill>
          <a:ln/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74320" y="182880"/>
            <a:ext cx="2194560" cy="594360"/>
          </a:xfrm>
          <a:prstGeom prst="rect">
            <a:avLst/>
          </a:prstGeom>
        </p:spPr>
      </p:pic>
      <p:pic>
        <p:nvPicPr>
          <p:cNvPr id="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1040" y="137160"/>
            <a:ext cx="548640" cy="411480"/>
          </a:xfrm>
          <a:prstGeom prst="rect">
            <a:avLst/>
          </a:prstGeom>
        </p:spPr>
      </p:pic>
      <p:sp>
        <p:nvSpPr>
          <p:cNvPr id="6" name="Text 1"/>
          <p:cNvSpPr/>
          <p:nvPr/>
        </p:nvSpPr>
        <p:spPr>
          <a:xfrm>
            <a:off x="274320" y="1097280"/>
            <a:ext cx="303580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Mehr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Privatpatienten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&amp; Selbstzahler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gewinnen</a:t>
            </a:r>
            <a:endParaRPr lang="en-US" sz="3000" dirty="0"/>
          </a:p>
        </p:txBody>
      </p:sp>
      <p:sp>
        <p:nvSpPr>
          <p:cNvPr id="7" name="Text 2"/>
          <p:cNvSpPr/>
          <p:nvPr/>
        </p:nvSpPr>
        <p:spPr>
          <a:xfrm>
            <a:off x="274320" y="3108960"/>
            <a:ext cx="29443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Die wirtschaftliche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Wachstumsstrategie für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moderne Praxen</a:t>
            </a:r>
            <a:endParaRPr lang="en-US" sz="1300" dirty="0"/>
          </a:p>
        </p:txBody>
      </p:sp>
      <p:sp>
        <p:nvSpPr>
          <p:cNvPr id="8" name="Shape 3"/>
          <p:cNvSpPr/>
          <p:nvPr/>
        </p:nvSpPr>
        <p:spPr>
          <a:xfrm>
            <a:off x="7269480" y="4114800"/>
            <a:ext cx="1737360" cy="91440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0" y="4160520"/>
            <a:ext cx="1645920" cy="704088"/>
          </a:xfrm>
          <a:prstGeom prst="rect">
            <a:avLst/>
          </a:prstGeom>
        </p:spPr>
      </p:pic>
      <p:sp>
        <p:nvSpPr>
          <p:cNvPr id="10" name="Shape 4"/>
          <p:cNvSpPr/>
          <p:nvPr/>
        </p:nvSpPr>
        <p:spPr>
          <a:xfrm>
            <a:off x="7315200" y="4882896"/>
            <a:ext cx="1645920" cy="146304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11" name="Text 5"/>
          <p:cNvSpPr/>
          <p:nvPr/>
        </p:nvSpPr>
        <p:spPr>
          <a:xfrm>
            <a:off x="7360920" y="4882896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▶ 0:24</a:t>
            </a:r>
            <a:endParaRPr lang="en-US" sz="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 5 – Preisstrategie</dc:title>
  <dc:subject>PptxGenJS Presentation</dc:subject>
  <dc:creator>Elevator42</dc:creator>
  <cp:lastModifiedBy>Elevator42</cp:lastModifiedBy>
  <cp:revision>1</cp:revision>
  <dcterms:created xsi:type="dcterms:W3CDTF">2026-06-14T12:27:20Z</dcterms:created>
  <dcterms:modified xsi:type="dcterms:W3CDTF">2026-06-14T12:27:20Z</dcterms:modified>
</cp:coreProperties>
</file>