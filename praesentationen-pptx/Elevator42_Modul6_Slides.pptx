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493008" cy="5148072"/>
          </a:xfrm>
          <a:prstGeom prst="rect">
            <a:avLst/>
          </a:prstGeom>
          <a:solidFill>
            <a:srgbClr val="1F4E79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182880"/>
            <a:ext cx="2194560" cy="5943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74320" y="1097280"/>
            <a:ext cx="3035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274320" y="3108960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für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8" name="Shape 3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5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4389120" y="2834640"/>
            <a:ext cx="4206240" cy="1691640"/>
          </a:xfrm>
          <a:prstGeom prst="rect">
            <a:avLst/>
          </a:prstGeom>
          <a:solidFill>
            <a:srgbClr val="FFFFFF">
              <a:alpha val="88000"/>
            </a:srgbClr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1"/>
          <p:cNvSpPr/>
          <p:nvPr/>
        </p:nvSpPr>
        <p:spPr>
          <a:xfrm>
            <a:off x="4617720" y="3063240"/>
            <a:ext cx="411480" cy="411480"/>
          </a:xfrm>
          <a:prstGeom prst="oval">
            <a:avLst/>
          </a:prstGeom>
          <a:solidFill>
            <a:srgbClr val="1F4E79">
              <a:alpha val="75000"/>
            </a:srgbClr>
          </a:solidFill>
          <a:ln/>
        </p:spPr>
      </p:sp>
      <p:sp>
        <p:nvSpPr>
          <p:cNvPr id="6" name="Text 2"/>
          <p:cNvSpPr/>
          <p:nvPr/>
        </p:nvSpPr>
        <p:spPr>
          <a:xfrm>
            <a:off x="5120640" y="30358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A1A2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6/10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4617720" y="347472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Service &amp; Erlebnis</a:t>
            </a:r>
            <a:endParaRPr lang="en-US" sz="2400" dirty="0"/>
          </a:p>
        </p:txBody>
      </p:sp>
      <p:sp>
        <p:nvSpPr>
          <p:cNvPr id="8" name="Text 4"/>
          <p:cNvSpPr/>
          <p:nvPr/>
        </p:nvSpPr>
        <p:spPr>
          <a:xfrm>
            <a:off x="4617720" y="40233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WOW-Effekte für Patienten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37160"/>
            <a:ext cx="2926080" cy="34747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 O D U L Ü B E R S I C H T</a:t>
            </a:r>
            <a:endParaRPr lang="en-US" sz="8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65760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365760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01</a:t>
            </a:r>
            <a:endParaRPr lang="en-US" sz="700" dirty="0"/>
          </a:p>
        </p:txBody>
      </p:sp>
      <p:sp>
        <p:nvSpPr>
          <p:cNvPr id="8" name="Text 5"/>
          <p:cNvSpPr/>
          <p:nvPr/>
        </p:nvSpPr>
        <p:spPr>
          <a:xfrm>
            <a:off x="475488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Grundlagen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75488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PKV &amp; Selbstzahler verstehen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3172968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172968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2" name="Text 9"/>
          <p:cNvSpPr/>
          <p:nvPr/>
        </p:nvSpPr>
        <p:spPr>
          <a:xfrm>
            <a:off x="3264408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02</a:t>
            </a:r>
            <a:endParaRPr lang="en-US" sz="700" dirty="0"/>
          </a:p>
        </p:txBody>
      </p:sp>
      <p:sp>
        <p:nvSpPr>
          <p:cNvPr id="13" name="Text 10"/>
          <p:cNvSpPr/>
          <p:nvPr/>
        </p:nvSpPr>
        <p:spPr>
          <a:xfrm>
            <a:off x="3282696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Positionierung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282696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Angebotsschärfung für Privatpatienten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5980176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980176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7" name="Text 14"/>
          <p:cNvSpPr/>
          <p:nvPr/>
        </p:nvSpPr>
        <p:spPr>
          <a:xfrm>
            <a:off x="6071616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03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6089904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Patient Journey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089904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Kontaktpunkte optimieren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365760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365760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2" name="Text 19"/>
          <p:cNvSpPr/>
          <p:nvPr/>
        </p:nvSpPr>
        <p:spPr>
          <a:xfrm>
            <a:off x="457200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04</a:t>
            </a:r>
            <a:endParaRPr lang="en-US" sz="700" dirty="0"/>
          </a:p>
        </p:txBody>
      </p:sp>
      <p:sp>
        <p:nvSpPr>
          <p:cNvPr id="23" name="Text 20"/>
          <p:cNvSpPr/>
          <p:nvPr/>
        </p:nvSpPr>
        <p:spPr>
          <a:xfrm>
            <a:off x="475488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Kommunikation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475488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Gesprächsführung mit Privatpatienten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3172968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3172968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7" name="Text 24"/>
          <p:cNvSpPr/>
          <p:nvPr/>
        </p:nvSpPr>
        <p:spPr>
          <a:xfrm>
            <a:off x="3264408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05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3282696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Preisstrategie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3282696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Honorargestaltung für Selbstzahler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5980176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5980176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2" name="Text 29"/>
          <p:cNvSpPr/>
          <p:nvPr/>
        </p:nvSpPr>
        <p:spPr>
          <a:xfrm>
            <a:off x="6071616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06</a:t>
            </a:r>
            <a:endParaRPr lang="en-US" sz="700" dirty="0"/>
          </a:p>
        </p:txBody>
      </p:sp>
      <p:sp>
        <p:nvSpPr>
          <p:cNvPr id="33" name="Text 30"/>
          <p:cNvSpPr/>
          <p:nvPr/>
        </p:nvSpPr>
        <p:spPr>
          <a:xfrm>
            <a:off x="6089904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Service &amp; Erlebnis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6089904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WOW-Effekte für Patienten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365760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365760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7" name="Text 34"/>
          <p:cNvSpPr/>
          <p:nvPr/>
        </p:nvSpPr>
        <p:spPr>
          <a:xfrm>
            <a:off x="457200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07</a:t>
            </a:r>
            <a:endParaRPr lang="en-US" sz="700" dirty="0"/>
          </a:p>
        </p:txBody>
      </p:sp>
      <p:sp>
        <p:nvSpPr>
          <p:cNvPr id="38" name="Text 35"/>
          <p:cNvSpPr/>
          <p:nvPr/>
        </p:nvSpPr>
        <p:spPr>
          <a:xfrm>
            <a:off x="475488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Recht &amp; Ethik</a:t>
            </a:r>
            <a:endParaRPr lang="en-US" sz="1400" dirty="0"/>
          </a:p>
        </p:txBody>
      </p:sp>
      <p:sp>
        <p:nvSpPr>
          <p:cNvPr id="39" name="Text 36"/>
          <p:cNvSpPr/>
          <p:nvPr/>
        </p:nvSpPr>
        <p:spPr>
          <a:xfrm>
            <a:off x="475488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Sicherheit und Vertrauen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3172968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3172968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42" name="Text 39"/>
          <p:cNvSpPr/>
          <p:nvPr/>
        </p:nvSpPr>
        <p:spPr>
          <a:xfrm>
            <a:off x="3264408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08</a:t>
            </a:r>
            <a:endParaRPr lang="en-US" sz="700" dirty="0"/>
          </a:p>
        </p:txBody>
      </p:sp>
      <p:sp>
        <p:nvSpPr>
          <p:cNvPr id="43" name="Text 40"/>
          <p:cNvSpPr/>
          <p:nvPr/>
        </p:nvSpPr>
        <p:spPr>
          <a:xfrm>
            <a:off x="3282696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Umsetzung &amp; Team</a:t>
            </a:r>
            <a:endParaRPr lang="en-US" sz="1400" dirty="0"/>
          </a:p>
        </p:txBody>
      </p:sp>
      <p:sp>
        <p:nvSpPr>
          <p:cNvPr id="44" name="Text 41"/>
          <p:cNvSpPr/>
          <p:nvPr/>
        </p:nvSpPr>
        <p:spPr>
          <a:xfrm>
            <a:off x="3282696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Nachhaltige Integration in den Praxisalltag</a:t>
            </a:r>
            <a:endParaRPr lang="en-US" sz="800" dirty="0"/>
          </a:p>
        </p:txBody>
      </p:sp>
      <p:sp>
        <p:nvSpPr>
          <p:cNvPr id="45" name="Shape 42"/>
          <p:cNvSpPr/>
          <p:nvPr/>
        </p:nvSpPr>
        <p:spPr>
          <a:xfrm>
            <a:off x="5980176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980176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47" name="Text 44"/>
          <p:cNvSpPr/>
          <p:nvPr/>
        </p:nvSpPr>
        <p:spPr>
          <a:xfrm>
            <a:off x="6071616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09</a:t>
            </a:r>
            <a:endParaRPr lang="en-US" sz="700" dirty="0"/>
          </a:p>
        </p:txBody>
      </p:sp>
      <p:sp>
        <p:nvSpPr>
          <p:cNvPr id="48" name="Text 45"/>
          <p:cNvSpPr/>
          <p:nvPr/>
        </p:nvSpPr>
        <p:spPr>
          <a:xfrm>
            <a:off x="6089904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Marketing &amp; Wachstum</a:t>
            </a:r>
            <a:endParaRPr lang="en-US" sz="1400" dirty="0"/>
          </a:p>
        </p:txBody>
      </p:sp>
      <p:sp>
        <p:nvSpPr>
          <p:cNvPr id="49" name="Text 46"/>
          <p:cNvSpPr/>
          <p:nvPr/>
        </p:nvSpPr>
        <p:spPr>
          <a:xfrm>
            <a:off x="6089904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Sichtbarkeit und Empfehlungen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65760" y="3849624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365760" y="3849624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52" name="Text 49"/>
          <p:cNvSpPr/>
          <p:nvPr/>
        </p:nvSpPr>
        <p:spPr>
          <a:xfrm>
            <a:off x="457200" y="3849624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10</a:t>
            </a:r>
            <a:endParaRPr lang="en-US" sz="700" dirty="0"/>
          </a:p>
        </p:txBody>
      </p:sp>
      <p:sp>
        <p:nvSpPr>
          <p:cNvPr id="53" name="Text 50"/>
          <p:cNvSpPr/>
          <p:nvPr/>
        </p:nvSpPr>
        <p:spPr>
          <a:xfrm>
            <a:off x="475488" y="4105656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Controlling</a:t>
            </a:r>
            <a:endParaRPr lang="en-US" sz="1400" dirty="0"/>
          </a:p>
        </p:txBody>
      </p:sp>
      <p:sp>
        <p:nvSpPr>
          <p:cNvPr id="54" name="Text 51"/>
          <p:cNvSpPr/>
          <p:nvPr/>
        </p:nvSpPr>
        <p:spPr>
          <a:xfrm>
            <a:off x="475488" y="4471416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Optimierung &amp; kontinuierliche Verbesserung</a:t>
            </a:r>
            <a:endParaRPr lang="en-US" sz="800" dirty="0"/>
          </a:p>
        </p:txBody>
      </p:sp>
      <p:sp>
        <p:nvSpPr>
          <p:cNvPr id="55" name="Text 5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6 · LEKTION 1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Warum Service über Bindung entscheidet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54864" cy="62179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28016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Standardversorgung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3291840" y="128016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Wird erwartet – aber nicht empfohlen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65760" y="205740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65760" y="2057400"/>
            <a:ext cx="54864" cy="62179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3" name="Text 10"/>
          <p:cNvSpPr/>
          <p:nvPr/>
        </p:nvSpPr>
        <p:spPr>
          <a:xfrm>
            <a:off x="640080" y="205740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Guter Service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291840" y="205740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Wird geschätzt – und bleibt im Gedächtnis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365760" y="283464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65760" y="2834640"/>
            <a:ext cx="54864" cy="621792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283464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WOW-Erlebnis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3291840" y="283464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Wird weiterempfohlen – und erzeugt Loyalität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2" name="Text 18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85166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7785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6 · LEKTION 2-3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Momente der Wahrheit im Detail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137160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01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005840" y="13716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Begrüßung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48640" y="17830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Blickkontakt, Lächeln, Name – in den ersten 10 Sekunden.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480560" y="128016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80560" y="128016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4" name="Text 11"/>
          <p:cNvSpPr/>
          <p:nvPr/>
        </p:nvSpPr>
        <p:spPr>
          <a:xfrm>
            <a:off x="4617720" y="137160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02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5120640" y="13716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Wartezeit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4663440" y="17830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Nicht die Dauer zählt – sondern ob sie kommuniziert wird.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65760" y="283464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365760" y="283464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9" name="Text 16"/>
          <p:cNvSpPr/>
          <p:nvPr/>
        </p:nvSpPr>
        <p:spPr>
          <a:xfrm>
            <a:off x="502920" y="292608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03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1005840" y="292608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Erklärung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48640" y="33375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Verständlich, empathisch, auf Augenhöhe.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4480560" y="283464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480560" y="283464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4" name="Text 21"/>
          <p:cNvSpPr/>
          <p:nvPr/>
        </p:nvSpPr>
        <p:spPr>
          <a:xfrm>
            <a:off x="4617720" y="292608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04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5120640" y="292608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Abschied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4663440" y="33375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Folgetermin, Zusammenfassung, gutes Gefühl.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30" name="Text 26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85166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7785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6 · LEKTION 4-5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WOW-Effekte erzeugen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2606040" cy="265176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2606040" cy="4572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9" name="Text 6"/>
          <p:cNvSpPr/>
          <p:nvPr/>
        </p:nvSpPr>
        <p:spPr>
          <a:xfrm>
            <a:off x="365760" y="148132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Kleine Geste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365760" y="18745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Unerwartet &amp; persönlich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48640" y="22402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Nachsorge-Anruf.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Kleine Aufmerksamkeit.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Persönliche Notiz.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200400" y="1280160"/>
            <a:ext cx="2606040" cy="265176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200400" y="1280160"/>
            <a:ext cx="2606040" cy="4572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4" name="Text 11"/>
          <p:cNvSpPr/>
          <p:nvPr/>
        </p:nvSpPr>
        <p:spPr>
          <a:xfrm>
            <a:off x="3200400" y="148132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Service+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3200400" y="18745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Über Standard hinaus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383280" y="22402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Bevorzugter Termin.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Individueller Plan.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Digitaler Bericht.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035040" y="1280160"/>
            <a:ext cx="2606040" cy="265176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035040" y="1280160"/>
            <a:ext cx="2606040" cy="4572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9" name="Text 16"/>
          <p:cNvSpPr/>
          <p:nvPr/>
        </p:nvSpPr>
        <p:spPr>
          <a:xfrm>
            <a:off x="6035040" y="148132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Erlebnis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6035040" y="18745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Ganzheitlich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217920" y="22402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Atmosphäre.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Team-Auftreten.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Konsistenz überall.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365760" y="3840480"/>
            <a:ext cx="6766560" cy="365760"/>
          </a:xfrm>
          <a:prstGeom prst="rect">
            <a:avLst/>
          </a:prstGeom>
          <a:solidFill>
            <a:srgbClr val="F3E8EF"/>
          </a:solidFill>
          <a:ln/>
        </p:spPr>
      </p:sp>
      <p:sp>
        <p:nvSpPr>
          <p:cNvPr id="23" name="Shape 20"/>
          <p:cNvSpPr/>
          <p:nvPr/>
        </p:nvSpPr>
        <p:spPr>
          <a:xfrm>
            <a:off x="365760" y="3840480"/>
            <a:ext cx="45720" cy="36576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4" name="Text 21"/>
          <p:cNvSpPr/>
          <p:nvPr/>
        </p:nvSpPr>
        <p:spPr>
          <a:xfrm>
            <a:off x="548640" y="3840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Begeisterung entsteht nicht durch mehr vom Gleichen – sondern durch unerwartete Qualität.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7" name="Shape 23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8" name="Text 24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8931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Kernbotschaft Modul 6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914400" y="14630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Patienten erinnern sich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nicht an jede Einzelheit.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2286000" y="2377440"/>
            <a:ext cx="4572000" cy="13716"/>
          </a:xfrm>
          <a:prstGeom prst="rect">
            <a:avLst/>
          </a:prstGeom>
          <a:solidFill>
            <a:srgbClr val="893163">
              <a:alpha val="5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25603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Aber sie erinnern sich genau,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wie sie sich gefühlt haben.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2103120" y="3749040"/>
            <a:ext cx="4937760" cy="457200"/>
          </a:xfrm>
          <a:prstGeom prst="rect">
            <a:avLst/>
          </a:prstGeom>
          <a:solidFill>
            <a:srgbClr val="F5C518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2286000" y="3749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WEITER MIT MODUL 7  →  Recht &amp; Ethik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3" name="Text 9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  <p:sp>
        <p:nvSpPr>
          <p:cNvPr id="14" name="Text 10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493008" cy="5148072"/>
          </a:xfrm>
          <a:prstGeom prst="rect">
            <a:avLst/>
          </a:prstGeom>
          <a:solidFill>
            <a:srgbClr val="1F4E79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182880"/>
            <a:ext cx="2194560" cy="5943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74320" y="1097280"/>
            <a:ext cx="3035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274320" y="3108960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für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8" name="Shape 3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5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 6 – Service &amp; Erlebnis</dc:title>
  <dc:subject>PptxGenJS Presentation</dc:subject>
  <dc:creator>Elevator42</dc:creator>
  <cp:lastModifiedBy>Elevator42</cp:lastModifiedBy>
  <cp:revision>1</cp:revision>
  <dcterms:created xsi:type="dcterms:W3CDTF">2026-06-14T12:05:05Z</dcterms:created>
  <dcterms:modified xsi:type="dcterms:W3CDTF">2026-06-14T12:05:05Z</dcterms:modified>
</cp:coreProperties>
</file>